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DBF692-5BD3-4EE5-9A74-74F21544287E}" v="2" dt="2026-10-20T13:37:43.1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am Samb" userId="7a8a4456-e472-462c-b366-b71539c1e8d7" providerId="ADAL" clId="{AA40E85F-F657-4870-B5B9-1B20545DDA47}"/>
    <pc:docChg chg="undo custSel modSld">
      <pc:chgData name="Aram Samb" userId="7a8a4456-e472-462c-b366-b71539c1e8d7" providerId="ADAL" clId="{AA40E85F-F657-4870-B5B9-1B20545DDA47}" dt="2026-10-20T13:43:16.466" v="131" actId="20577"/>
      <pc:docMkLst>
        <pc:docMk/>
      </pc:docMkLst>
      <pc:sldChg chg="addSp delSp modSp mod">
        <pc:chgData name="Aram Samb" userId="7a8a4456-e472-462c-b366-b71539c1e8d7" providerId="ADAL" clId="{AA40E85F-F657-4870-B5B9-1B20545DDA47}" dt="2026-10-20T13:43:16.466" v="131" actId="20577"/>
        <pc:sldMkLst>
          <pc:docMk/>
          <pc:sldMk cId="0" sldId="260"/>
        </pc:sldMkLst>
        <pc:spChg chg="mod">
          <ac:chgData name="Aram Samb" userId="7a8a4456-e472-462c-b366-b71539c1e8d7" providerId="ADAL" clId="{AA40E85F-F657-4870-B5B9-1B20545DDA47}" dt="2026-10-20T13:43:16.466" v="131" actId="20577"/>
          <ac:spMkLst>
            <pc:docMk/>
            <pc:sldMk cId="0" sldId="260"/>
            <ac:spMk id="2" creationId="{00000000-0000-0000-0000-000000000000}"/>
          </ac:spMkLst>
        </pc:spChg>
        <pc:spChg chg="mod">
          <ac:chgData name="Aram Samb" userId="7a8a4456-e472-462c-b366-b71539c1e8d7" providerId="ADAL" clId="{AA40E85F-F657-4870-B5B9-1B20545DDA47}" dt="2026-10-20T13:38:31.260" v="27" actId="20577"/>
          <ac:spMkLst>
            <pc:docMk/>
            <pc:sldMk cId="0" sldId="260"/>
            <ac:spMk id="8" creationId="{00000000-0000-0000-0000-000000000000}"/>
          </ac:spMkLst>
        </pc:spChg>
        <pc:spChg chg="mod">
          <ac:chgData name="Aram Samb" userId="7a8a4456-e472-462c-b366-b71539c1e8d7" providerId="ADAL" clId="{AA40E85F-F657-4870-B5B9-1B20545DDA47}" dt="2026-10-20T13:38:59.881" v="82" actId="20577"/>
          <ac:spMkLst>
            <pc:docMk/>
            <pc:sldMk cId="0" sldId="260"/>
            <ac:spMk id="16" creationId="{00000000-0000-0000-0000-000000000000}"/>
          </ac:spMkLst>
        </pc:spChg>
        <pc:spChg chg="add del mod">
          <ac:chgData name="Aram Samb" userId="7a8a4456-e472-462c-b366-b71539c1e8d7" providerId="ADAL" clId="{AA40E85F-F657-4870-B5B9-1B20545DDA47}" dt="2026-10-20T13:37:43.189" v="4" actId="767"/>
          <ac:spMkLst>
            <pc:docMk/>
            <pc:sldMk cId="0" sldId="260"/>
            <ac:spMk id="22" creationId="{1E5BEC5A-50B7-1530-5D40-71CE955FD4AB}"/>
          </ac:spMkLst>
        </pc:spChg>
      </pc:sldChg>
      <pc:sldChg chg="modSp mod">
        <pc:chgData name="Aram Samb" userId="7a8a4456-e472-462c-b366-b71539c1e8d7" providerId="ADAL" clId="{AA40E85F-F657-4870-B5B9-1B20545DDA47}" dt="2026-10-20T13:40:07.963" v="99" actId="20577"/>
        <pc:sldMkLst>
          <pc:docMk/>
          <pc:sldMk cId="0" sldId="261"/>
        </pc:sldMkLst>
        <pc:spChg chg="mod">
          <ac:chgData name="Aram Samb" userId="7a8a4456-e472-462c-b366-b71539c1e8d7" providerId="ADAL" clId="{AA40E85F-F657-4870-B5B9-1B20545DDA47}" dt="2026-10-20T13:40:07.963" v="99" actId="20577"/>
          <ac:spMkLst>
            <pc:docMk/>
            <pc:sldMk cId="0" sldId="261"/>
            <ac:spMk id="14" creationId="{00000000-0000-0000-0000-000000000000}"/>
          </ac:spMkLst>
        </pc:spChg>
      </pc:sldChg>
      <pc:sldChg chg="modSp mod">
        <pc:chgData name="Aram Samb" userId="7a8a4456-e472-462c-b366-b71539c1e8d7" providerId="ADAL" clId="{AA40E85F-F657-4870-B5B9-1B20545DDA47}" dt="2026-10-20T13:42:47.585" v="104" actId="1076"/>
        <pc:sldMkLst>
          <pc:docMk/>
          <pc:sldMk cId="0" sldId="264"/>
        </pc:sldMkLst>
        <pc:spChg chg="mod">
          <ac:chgData name="Aram Samb" userId="7a8a4456-e472-462c-b366-b71539c1e8d7" providerId="ADAL" clId="{AA40E85F-F657-4870-B5B9-1B20545DDA47}" dt="2026-10-20T13:42:30.508" v="101" actId="1076"/>
          <ac:spMkLst>
            <pc:docMk/>
            <pc:sldMk cId="0" sldId="264"/>
            <ac:spMk id="25" creationId="{00000000-0000-0000-0000-000000000000}"/>
          </ac:spMkLst>
        </pc:spChg>
        <pc:spChg chg="mod">
          <ac:chgData name="Aram Samb" userId="7a8a4456-e472-462c-b366-b71539c1e8d7" providerId="ADAL" clId="{AA40E85F-F657-4870-B5B9-1B20545DDA47}" dt="2026-10-20T13:42:47.585" v="104" actId="1076"/>
          <ac:spMkLst>
            <pc:docMk/>
            <pc:sldMk cId="0" sldId="264"/>
            <ac:spMk id="26" creationId="{00000000-0000-0000-0000-000000000000}"/>
          </ac:spMkLst>
        </pc:spChg>
        <pc:spChg chg="mod">
          <ac:chgData name="Aram Samb" userId="7a8a4456-e472-462c-b366-b71539c1e8d7" providerId="ADAL" clId="{AA40E85F-F657-4870-B5B9-1B20545DDA47}" dt="2026-10-20T13:42:37.912" v="102" actId="1076"/>
          <ac:spMkLst>
            <pc:docMk/>
            <pc:sldMk cId="0" sldId="264"/>
            <ac:spMk id="27" creationId="{00000000-0000-0000-0000-000000000000}"/>
          </ac:spMkLst>
        </pc:spChg>
        <pc:spChg chg="mod">
          <ac:chgData name="Aram Samb" userId="7a8a4456-e472-462c-b366-b71539c1e8d7" providerId="ADAL" clId="{AA40E85F-F657-4870-B5B9-1B20545DDA47}" dt="2026-10-20T13:42:44.176" v="103" actId="1076"/>
          <ac:spMkLst>
            <pc:docMk/>
            <pc:sldMk cId="0" sldId="264"/>
            <ac:spMk id="2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3090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B2D"/>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31180"/>
            <a:ext cx="10566400" cy="474960"/>
          </a:xfrm>
          <a:prstGeom prst="rect">
            <a:avLst/>
          </a:prstGeom>
          <a:noFill/>
          <a:ln/>
        </p:spPr>
        <p:txBody>
          <a:bodyPr wrap="square" lIns="0" tIns="0" rIns="0" bIns="0" rtlCol="0" anchor="t"/>
          <a:lstStyle>
            <a:lvl1pPr marL="0" indent="0" algn="l">
              <a:lnSpc>
                <a:spcPct val="115000"/>
              </a:lnSpc>
              <a:buNone/>
              <a:defRPr lang="en-US" sz="3400" dirty="0">
                <a:solidFill>
                  <a:srgbClr val="F7F2EA"/>
                </a:solidFill>
                <a:latin typeface="Playfair Display" pitchFamily="34" charset="0"/>
                <a:ea typeface="Playfair Display" pitchFamily="34" charset="-122"/>
                <a:cs typeface="Playfair Display"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810941"/>
            <a:ext cx="10566400" cy="4234259"/>
          </a:xfrm>
          <a:prstGeom prst="rect">
            <a:avLst/>
          </a:prstGeom>
          <a:noFill/>
          <a:ln/>
        </p:spPr>
        <p:txBody>
          <a:bodyPr wrap="square" lIns="0" tIns="0" rIns="0" bIns="0" rtlCol="0" anchor="t"/>
          <a:lstStyle>
            <a:lvl1pPr marL="0" indent="0" algn="l">
              <a:lnSpc>
                <a:spcPct val="140000"/>
              </a:lnSpc>
              <a:buNone/>
              <a:defRPr lang="en-US" sz="1600" dirty="0">
                <a:solidFill>
                  <a:srgbClr val="F7F2EA"/>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31180"/>
            <a:ext cx="10566400" cy="474960"/>
          </a:xfrm>
          <a:prstGeom prst="rect">
            <a:avLst/>
          </a:prstGeom>
          <a:noFill/>
          <a:ln/>
        </p:spPr>
        <p:txBody>
          <a:bodyPr wrap="square" lIns="0" tIns="0" rIns="0" bIns="0" rtlCol="0" anchor="t"/>
          <a:lstStyle>
            <a:lvl1pPr marL="0" indent="0" algn="l">
              <a:lnSpc>
                <a:spcPct val="115000"/>
              </a:lnSpc>
              <a:buNone/>
              <a:defRPr lang="en-US" sz="3400" dirty="0">
                <a:solidFill>
                  <a:srgbClr val="F7F2EA"/>
                </a:solidFill>
                <a:latin typeface="Playfair Display" pitchFamily="34" charset="0"/>
                <a:ea typeface="Playfair Display" pitchFamily="34" charset="-122"/>
                <a:cs typeface="Playfair Display"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810941"/>
            <a:ext cx="10566400" cy="4234259"/>
          </a:xfrm>
          <a:prstGeom prst="rect">
            <a:avLst/>
          </a:prstGeom>
          <a:noFill/>
          <a:ln/>
        </p:spPr>
        <p:txBody>
          <a:bodyPr wrap="square" lIns="0" tIns="0" rIns="0" bIns="0" rtlCol="0" anchor="t"/>
          <a:lstStyle>
            <a:lvl1pPr marL="0" indent="0" algn="l">
              <a:lnSpc>
                <a:spcPct val="140000"/>
              </a:lnSpc>
              <a:buNone/>
              <a:defRPr lang="en-US" sz="1600" dirty="0">
                <a:solidFill>
                  <a:srgbClr val="F7F2EA"/>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7493000" y="0"/>
            <a:ext cx="5715000" cy="5715000"/>
          </a:xfrm>
          <a:prstGeom prst="roundRect">
            <a:avLst>
              <a:gd name="adj" fmla="val 28444"/>
            </a:avLst>
          </a:prstGeom>
          <a:solidFill>
            <a:srgbClr val="FF6B4A"/>
          </a:solidFill>
          <a:ln/>
        </p:spPr>
        <p:txBody>
          <a:bodyPr/>
          <a:lstStyle/>
          <a:p>
            <a:endParaRPr lang="en-US"/>
          </a:p>
        </p:txBody>
      </p:sp>
      <p:sp>
        <p:nvSpPr>
          <p:cNvPr id="3" name="Shape 1"/>
          <p:cNvSpPr/>
          <p:nvPr/>
        </p:nvSpPr>
        <p:spPr>
          <a:xfrm>
            <a:off x="9017000" y="3302000"/>
            <a:ext cx="3937000" cy="3937000"/>
          </a:xfrm>
          <a:prstGeom prst="roundRect">
            <a:avLst>
              <a:gd name="adj" fmla="val 41290"/>
            </a:avLst>
          </a:prstGeom>
          <a:solidFill>
            <a:srgbClr val="1FB5A6"/>
          </a:solidFill>
          <a:ln/>
        </p:spPr>
        <p:txBody>
          <a:bodyPr/>
          <a:lstStyle/>
          <a:p>
            <a:endParaRPr lang="en-US"/>
          </a:p>
        </p:txBody>
      </p:sp>
      <p:sp>
        <p:nvSpPr>
          <p:cNvPr id="4" name="Shape 2"/>
          <p:cNvSpPr/>
          <p:nvPr/>
        </p:nvSpPr>
        <p:spPr>
          <a:xfrm>
            <a:off x="7175500" y="4064000"/>
            <a:ext cx="1651000" cy="1651000"/>
          </a:xfrm>
          <a:prstGeom prst="roundRect">
            <a:avLst>
              <a:gd name="adj" fmla="val 50000"/>
            </a:avLst>
          </a:prstGeom>
          <a:solidFill>
            <a:srgbClr val="F4B942"/>
          </a:solidFill>
          <a:ln/>
        </p:spPr>
        <p:txBody>
          <a:bodyPr/>
          <a:lstStyle/>
          <a:p>
            <a:endParaRPr lang="en-US"/>
          </a:p>
        </p:txBody>
      </p:sp>
      <p:sp>
        <p:nvSpPr>
          <p:cNvPr id="5" name="Shape 3"/>
          <p:cNvSpPr/>
          <p:nvPr/>
        </p:nvSpPr>
        <p:spPr>
          <a:xfrm>
            <a:off x="9569450" y="44450"/>
            <a:ext cx="1816100" cy="1816100"/>
          </a:xfrm>
          <a:prstGeom prst="roundRect">
            <a:avLst>
              <a:gd name="adj" fmla="val 50000"/>
            </a:avLst>
          </a:prstGeom>
          <a:solidFill>
            <a:srgbClr val="0F1B2D"/>
          </a:solidFill>
          <a:ln w="88900">
            <a:solidFill>
              <a:srgbClr val="F7F2EA"/>
            </a:solidFill>
            <a:prstDash val="solid"/>
          </a:ln>
        </p:spPr>
        <p:txBody>
          <a:bodyPr/>
          <a:lstStyle/>
          <a:p>
            <a:endParaRPr lang="en-US"/>
          </a:p>
        </p:txBody>
      </p:sp>
      <p:sp>
        <p:nvSpPr>
          <p:cNvPr id="6" name="Text 4"/>
          <p:cNvSpPr/>
          <p:nvPr/>
        </p:nvSpPr>
        <p:spPr>
          <a:xfrm>
            <a:off x="812800" y="1988344"/>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300" dirty="0">
                <a:solidFill>
                  <a:srgbClr val="F4B942"/>
                </a:solidFill>
                <a:latin typeface="Inter" pitchFamily="34" charset="0"/>
                <a:ea typeface="Inter" pitchFamily="34" charset="-122"/>
                <a:cs typeface="Inter" pitchFamily="34" charset="-120"/>
              </a:rPr>
              <a:t>SQL · BIGQUERY · PYTHON</a:t>
            </a:r>
            <a:endParaRPr lang="en-US" sz="1500" dirty="0"/>
          </a:p>
        </p:txBody>
      </p:sp>
      <p:sp>
        <p:nvSpPr>
          <p:cNvPr id="7" name="Text 5"/>
          <p:cNvSpPr>
            <a:spLocks noGrp="1"/>
          </p:cNvSpPr>
          <p:nvPr>
            <p:ph type="title"/>
          </p:nvPr>
        </p:nvSpPr>
        <p:spPr>
          <a:xfrm>
            <a:off x="812800" y="2445544"/>
            <a:ext cx="7521575" cy="1631553"/>
          </a:xfrm>
          <a:prstGeom prst="rect">
            <a:avLst/>
          </a:prstGeom>
          <a:noFill/>
          <a:ln/>
        </p:spPr>
        <p:txBody>
          <a:bodyPr wrap="square" lIns="0" tIns="0" rIns="0" bIns="0" rtlCol="0" anchor="t">
            <a:normAutofit/>
          </a:bodyPr>
          <a:lstStyle/>
          <a:p>
            <a:pPr marL="0" indent="0" algn="l">
              <a:lnSpc>
                <a:spcPts val="6324"/>
              </a:lnSpc>
              <a:buNone/>
            </a:pPr>
            <a:r>
              <a:rPr lang="en-US" sz="6200" b="1" i="0" dirty="0">
                <a:solidFill>
                  <a:srgbClr val="F7F2EA"/>
                </a:solidFill>
                <a:latin typeface="Playfair Display" pitchFamily="18" charset="0"/>
                <a:ea typeface="Playfair Display" pitchFamily="18" charset="-122"/>
                <a:cs typeface="Playfair Display" pitchFamily="18" charset="-120"/>
              </a:rPr>
              <a:t>Retail Sales Analytics</a:t>
            </a:r>
            <a:endParaRPr lang="en-US" sz="6200" dirty="0"/>
          </a:p>
        </p:txBody>
      </p:sp>
      <p:sp>
        <p:nvSpPr>
          <p:cNvPr id="8" name="Shape 6"/>
          <p:cNvSpPr/>
          <p:nvPr/>
        </p:nvSpPr>
        <p:spPr>
          <a:xfrm>
            <a:off x="812800" y="4242197"/>
            <a:ext cx="889000" cy="63500"/>
          </a:xfrm>
          <a:prstGeom prst="roundRect">
            <a:avLst>
              <a:gd name="adj" fmla="val 50000"/>
            </a:avLst>
          </a:prstGeom>
          <a:solidFill>
            <a:srgbClr val="FF6B4A"/>
          </a:solidFill>
          <a:ln/>
        </p:spPr>
        <p:txBody>
          <a:bodyPr/>
          <a:lstStyle/>
          <a:p>
            <a:endParaRPr lang="en-US"/>
          </a:p>
        </p:txBody>
      </p:sp>
      <p:sp>
        <p:nvSpPr>
          <p:cNvPr id="9" name="Text 7"/>
          <p:cNvSpPr/>
          <p:nvPr/>
        </p:nvSpPr>
        <p:spPr>
          <a:xfrm>
            <a:off x="812800" y="4496197"/>
            <a:ext cx="6540500" cy="398760"/>
          </a:xfrm>
          <a:prstGeom prst="rect">
            <a:avLst/>
          </a:prstGeom>
          <a:noFill/>
          <a:ln/>
        </p:spPr>
        <p:txBody>
          <a:bodyPr wrap="square" lIns="0" tIns="0" rIns="0" bIns="0" rtlCol="0" anchor="t">
            <a:normAutofit/>
          </a:bodyPr>
          <a:lstStyle/>
          <a:p>
            <a:pPr marL="0" indent="0" algn="l">
              <a:lnSpc>
                <a:spcPts val="2940"/>
              </a:lnSpc>
              <a:buNone/>
            </a:pPr>
            <a:r>
              <a:rPr lang="en-US" sz="2100" dirty="0">
                <a:solidFill>
                  <a:srgbClr val="C9D1DC"/>
                </a:solidFill>
                <a:latin typeface="Inter" pitchFamily="34" charset="0"/>
                <a:ea typeface="Inter" pitchFamily="34" charset="-122"/>
                <a:cs typeface="Inter" pitchFamily="34" charset="-120"/>
              </a:rPr>
              <a:t>Business findings and strategic recommendations</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2E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50" dirty="0">
                <a:solidFill>
                  <a:srgbClr val="FF6B4A"/>
                </a:solidFill>
                <a:latin typeface="Inter" pitchFamily="34" charset="0"/>
                <a:ea typeface="Inter" pitchFamily="34" charset="-122"/>
                <a:cs typeface="Inter" pitchFamily="34" charset="-120"/>
              </a:rPr>
              <a:t>THE BIG PICTURE</a:t>
            </a:r>
            <a:endParaRPr lang="en-US" sz="1300" dirty="0"/>
          </a:p>
        </p:txBody>
      </p:sp>
      <p:sp>
        <p:nvSpPr>
          <p:cNvPr id="3" name="Text 1"/>
          <p:cNvSpPr>
            <a:spLocks noGrp="1"/>
          </p:cNvSpPr>
          <p:nvPr>
            <p:ph type="title"/>
          </p:nvPr>
        </p:nvSpPr>
        <p:spPr>
          <a:xfrm>
            <a:off x="812800" y="103118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0F1B2D"/>
                </a:solidFill>
                <a:latin typeface="Playfair Display" pitchFamily="18" charset="0"/>
                <a:ea typeface="Playfair Display" pitchFamily="18" charset="-122"/>
                <a:cs typeface="Playfair Display" pitchFamily="18" charset="-120"/>
              </a:rPr>
              <a:t>Executive summary</a:t>
            </a:r>
            <a:endParaRPr lang="en-US" sz="3400" dirty="0"/>
          </a:p>
        </p:txBody>
      </p:sp>
      <p:sp>
        <p:nvSpPr>
          <p:cNvPr id="4" name="Shape 2"/>
          <p:cNvSpPr/>
          <p:nvPr/>
        </p:nvSpPr>
        <p:spPr>
          <a:xfrm>
            <a:off x="812800" y="1785541"/>
            <a:ext cx="2489200" cy="1713210"/>
          </a:xfrm>
          <a:prstGeom prst="roundRect">
            <a:avLst>
              <a:gd name="adj" fmla="val 7413"/>
            </a:avLst>
          </a:prstGeom>
          <a:solidFill>
            <a:srgbClr val="FFFFFF"/>
          </a:solidFill>
          <a:ln/>
        </p:spPr>
        <p:txBody>
          <a:bodyPr/>
          <a:lstStyle/>
          <a:p>
            <a:endParaRPr lang="en-US"/>
          </a:p>
        </p:txBody>
      </p:sp>
      <p:sp>
        <p:nvSpPr>
          <p:cNvPr id="5" name="Shape 3"/>
          <p:cNvSpPr/>
          <p:nvPr/>
        </p:nvSpPr>
        <p:spPr>
          <a:xfrm>
            <a:off x="812800" y="1785541"/>
            <a:ext cx="2489200" cy="1713210"/>
          </a:xfrm>
          <a:custGeom>
            <a:avLst/>
            <a:gdLst/>
            <a:ahLst/>
            <a:cxnLst/>
            <a:rect l="l" t="t" r="r" b="b"/>
            <a:pathLst>
              <a:path w="2489200" h="1713210">
                <a:moveTo>
                  <a:pt x="0" y="127000"/>
                </a:moveTo>
                <a:lnTo>
                  <a:pt x="0" y="127000"/>
                </a:lnTo>
                <a:arcTo wR="127000" hR="127000" stAng="10800000" swAng="5400000"/>
                <a:lnTo>
                  <a:pt x="2362200" y="0"/>
                </a:lnTo>
                <a:arcTo wR="127000" hR="127000" stAng="16200000" swAng="5400000"/>
                <a:lnTo>
                  <a:pt x="2489200" y="127000"/>
                </a:lnTo>
                <a:arcTo wR="127000" hR="63500" stAng="0" swAng="-5400000"/>
                <a:lnTo>
                  <a:pt x="127000" y="63500"/>
                </a:lnTo>
                <a:arcTo wR="127000" hR="63500" stAng="16200000" swAng="-5400000"/>
                <a:close/>
              </a:path>
            </a:pathLst>
          </a:custGeom>
          <a:solidFill>
            <a:srgbClr val="FF6B4A"/>
          </a:solidFill>
          <a:ln/>
        </p:spPr>
        <p:txBody>
          <a:bodyPr/>
          <a:lstStyle/>
          <a:p>
            <a:endParaRPr lang="en-US"/>
          </a:p>
        </p:txBody>
      </p:sp>
      <p:sp>
        <p:nvSpPr>
          <p:cNvPr id="6" name="Text 4"/>
          <p:cNvSpPr/>
          <p:nvPr/>
        </p:nvSpPr>
        <p:spPr>
          <a:xfrm>
            <a:off x="1066800" y="2128441"/>
            <a:ext cx="2040636" cy="532110"/>
          </a:xfrm>
          <a:prstGeom prst="rect">
            <a:avLst/>
          </a:prstGeom>
          <a:noFill/>
          <a:ln/>
        </p:spPr>
        <p:txBody>
          <a:bodyPr wrap="square" lIns="0" tIns="0" rIns="0" bIns="0" rtlCol="0" anchor="t">
            <a:normAutofit/>
          </a:bodyPr>
          <a:lstStyle/>
          <a:p>
            <a:pPr marL="0" indent="0" algn="l">
              <a:lnSpc>
                <a:spcPts val="3990"/>
              </a:lnSpc>
              <a:buNone/>
            </a:pPr>
            <a:r>
              <a:rPr lang="en-US" sz="3800" b="1" dirty="0">
                <a:solidFill>
                  <a:srgbClr val="FF6B4A"/>
                </a:solidFill>
                <a:latin typeface="Playfair Display" pitchFamily="18" charset="0"/>
                <a:ea typeface="Playfair Display" pitchFamily="18" charset="-122"/>
                <a:cs typeface="Playfair Display" pitchFamily="18" charset="-120"/>
              </a:rPr>
              <a:t>2,725.39</a:t>
            </a:r>
            <a:endParaRPr lang="en-US" sz="3800" dirty="0"/>
          </a:p>
        </p:txBody>
      </p:sp>
      <p:sp>
        <p:nvSpPr>
          <p:cNvPr id="7" name="Text 5"/>
          <p:cNvSpPr/>
          <p:nvPr/>
        </p:nvSpPr>
        <p:spPr>
          <a:xfrm>
            <a:off x="1066800" y="2724051"/>
            <a:ext cx="2040636"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F1B2D"/>
                </a:solidFill>
                <a:latin typeface="Inter" pitchFamily="34" charset="0"/>
                <a:ea typeface="Inter" pitchFamily="34" charset="-122"/>
                <a:cs typeface="Inter" pitchFamily="34" charset="-120"/>
              </a:rPr>
              <a:t>Average order value</a:t>
            </a:r>
            <a:endParaRPr lang="en-US" sz="1500" dirty="0"/>
          </a:p>
        </p:txBody>
      </p:sp>
      <p:sp>
        <p:nvSpPr>
          <p:cNvPr id="8" name="Shape 6"/>
          <p:cNvSpPr/>
          <p:nvPr/>
        </p:nvSpPr>
        <p:spPr>
          <a:xfrm>
            <a:off x="3505200" y="1785541"/>
            <a:ext cx="2489200" cy="1713210"/>
          </a:xfrm>
          <a:prstGeom prst="roundRect">
            <a:avLst>
              <a:gd name="adj" fmla="val 7413"/>
            </a:avLst>
          </a:prstGeom>
          <a:solidFill>
            <a:srgbClr val="FFFFFF"/>
          </a:solidFill>
          <a:ln/>
        </p:spPr>
        <p:txBody>
          <a:bodyPr/>
          <a:lstStyle/>
          <a:p>
            <a:endParaRPr lang="en-US"/>
          </a:p>
        </p:txBody>
      </p:sp>
      <p:sp>
        <p:nvSpPr>
          <p:cNvPr id="9" name="Shape 7"/>
          <p:cNvSpPr/>
          <p:nvPr/>
        </p:nvSpPr>
        <p:spPr>
          <a:xfrm>
            <a:off x="3505200" y="1785541"/>
            <a:ext cx="2489200" cy="1713210"/>
          </a:xfrm>
          <a:custGeom>
            <a:avLst/>
            <a:gdLst/>
            <a:ahLst/>
            <a:cxnLst/>
            <a:rect l="l" t="t" r="r" b="b"/>
            <a:pathLst>
              <a:path w="2489200" h="1713210">
                <a:moveTo>
                  <a:pt x="0" y="127000"/>
                </a:moveTo>
                <a:lnTo>
                  <a:pt x="0" y="127000"/>
                </a:lnTo>
                <a:arcTo wR="127000" hR="127000" stAng="10800000" swAng="5400000"/>
                <a:lnTo>
                  <a:pt x="2362200" y="0"/>
                </a:lnTo>
                <a:arcTo wR="127000" hR="127000" stAng="16200000" swAng="5400000"/>
                <a:lnTo>
                  <a:pt x="2489200" y="127000"/>
                </a:lnTo>
                <a:arcTo wR="127000" hR="63500" stAng="0" swAng="-5400000"/>
                <a:lnTo>
                  <a:pt x="127000" y="63500"/>
                </a:lnTo>
                <a:arcTo wR="127000" hR="63500" stAng="16200000" swAng="-5400000"/>
                <a:close/>
              </a:path>
            </a:pathLst>
          </a:custGeom>
          <a:solidFill>
            <a:srgbClr val="1FB5A6"/>
          </a:solidFill>
          <a:ln/>
        </p:spPr>
        <p:txBody>
          <a:bodyPr/>
          <a:lstStyle/>
          <a:p>
            <a:endParaRPr lang="en-US"/>
          </a:p>
        </p:txBody>
      </p:sp>
      <p:sp>
        <p:nvSpPr>
          <p:cNvPr id="10" name="Text 8"/>
          <p:cNvSpPr/>
          <p:nvPr/>
        </p:nvSpPr>
        <p:spPr>
          <a:xfrm>
            <a:off x="3759200" y="2128441"/>
            <a:ext cx="2040636" cy="532110"/>
          </a:xfrm>
          <a:prstGeom prst="rect">
            <a:avLst/>
          </a:prstGeom>
          <a:noFill/>
          <a:ln/>
        </p:spPr>
        <p:txBody>
          <a:bodyPr wrap="square" lIns="0" tIns="0" rIns="0" bIns="0" rtlCol="0" anchor="t">
            <a:normAutofit/>
          </a:bodyPr>
          <a:lstStyle/>
          <a:p>
            <a:pPr marL="0" indent="0" algn="l">
              <a:lnSpc>
                <a:spcPts val="3990"/>
              </a:lnSpc>
              <a:buNone/>
            </a:pPr>
            <a:r>
              <a:rPr lang="en-US" sz="3800" b="1" dirty="0">
                <a:solidFill>
                  <a:srgbClr val="1FB5A6"/>
                </a:solidFill>
                <a:latin typeface="Playfair Display" pitchFamily="18" charset="0"/>
                <a:ea typeface="Playfair Display" pitchFamily="18" charset="-122"/>
                <a:cs typeface="Playfair Display" pitchFamily="18" charset="-120"/>
              </a:rPr>
              <a:t>13,719.95</a:t>
            </a:r>
            <a:endParaRPr lang="en-US" sz="3800" dirty="0"/>
          </a:p>
        </p:txBody>
      </p:sp>
      <p:sp>
        <p:nvSpPr>
          <p:cNvPr id="11" name="Text 9"/>
          <p:cNvSpPr/>
          <p:nvPr/>
        </p:nvSpPr>
        <p:spPr>
          <a:xfrm>
            <a:off x="3759200" y="2724051"/>
            <a:ext cx="2040636"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F1B2D"/>
                </a:solidFill>
                <a:latin typeface="Inter" pitchFamily="34" charset="0"/>
                <a:ea typeface="Inter" pitchFamily="34" charset="-122"/>
                <a:cs typeface="Inter" pitchFamily="34" charset="-120"/>
              </a:rPr>
              <a:t>Average revenue per customer</a:t>
            </a:r>
            <a:endParaRPr lang="en-US" sz="1500" dirty="0"/>
          </a:p>
        </p:txBody>
      </p:sp>
      <p:sp>
        <p:nvSpPr>
          <p:cNvPr id="12" name="Shape 10"/>
          <p:cNvSpPr/>
          <p:nvPr/>
        </p:nvSpPr>
        <p:spPr>
          <a:xfrm>
            <a:off x="6197600" y="1785541"/>
            <a:ext cx="2489200" cy="1713210"/>
          </a:xfrm>
          <a:prstGeom prst="roundRect">
            <a:avLst>
              <a:gd name="adj" fmla="val 7413"/>
            </a:avLst>
          </a:prstGeom>
          <a:solidFill>
            <a:srgbClr val="FFFFFF"/>
          </a:solidFill>
          <a:ln/>
        </p:spPr>
        <p:txBody>
          <a:bodyPr/>
          <a:lstStyle/>
          <a:p>
            <a:endParaRPr lang="en-US"/>
          </a:p>
        </p:txBody>
      </p:sp>
      <p:sp>
        <p:nvSpPr>
          <p:cNvPr id="13" name="Shape 11"/>
          <p:cNvSpPr/>
          <p:nvPr/>
        </p:nvSpPr>
        <p:spPr>
          <a:xfrm>
            <a:off x="6197600" y="1785541"/>
            <a:ext cx="2489200" cy="1713210"/>
          </a:xfrm>
          <a:custGeom>
            <a:avLst/>
            <a:gdLst/>
            <a:ahLst/>
            <a:cxnLst/>
            <a:rect l="l" t="t" r="r" b="b"/>
            <a:pathLst>
              <a:path w="2489200" h="1713210">
                <a:moveTo>
                  <a:pt x="0" y="127000"/>
                </a:moveTo>
                <a:lnTo>
                  <a:pt x="0" y="127000"/>
                </a:lnTo>
                <a:arcTo wR="127000" hR="127000" stAng="10800000" swAng="5400000"/>
                <a:lnTo>
                  <a:pt x="2362200" y="0"/>
                </a:lnTo>
                <a:arcTo wR="127000" hR="127000" stAng="16200000" swAng="5400000"/>
                <a:lnTo>
                  <a:pt x="2489200" y="127000"/>
                </a:lnTo>
                <a:arcTo wR="127000" hR="63500" stAng="0" swAng="-5400000"/>
                <a:lnTo>
                  <a:pt x="127000" y="63500"/>
                </a:lnTo>
                <a:arcTo wR="127000" hR="63500" stAng="16200000" swAng="-5400000"/>
                <a:close/>
              </a:path>
            </a:pathLst>
          </a:custGeom>
          <a:solidFill>
            <a:srgbClr val="F4B942"/>
          </a:solidFill>
          <a:ln/>
        </p:spPr>
        <p:txBody>
          <a:bodyPr/>
          <a:lstStyle/>
          <a:p>
            <a:endParaRPr lang="en-US"/>
          </a:p>
        </p:txBody>
      </p:sp>
      <p:sp>
        <p:nvSpPr>
          <p:cNvPr id="14" name="Text 12"/>
          <p:cNvSpPr/>
          <p:nvPr/>
        </p:nvSpPr>
        <p:spPr>
          <a:xfrm>
            <a:off x="6451600" y="2128441"/>
            <a:ext cx="2040636" cy="532110"/>
          </a:xfrm>
          <a:prstGeom prst="rect">
            <a:avLst/>
          </a:prstGeom>
          <a:noFill/>
          <a:ln/>
        </p:spPr>
        <p:txBody>
          <a:bodyPr wrap="square" lIns="0" tIns="0" rIns="0" bIns="0" rtlCol="0" anchor="t">
            <a:normAutofit/>
          </a:bodyPr>
          <a:lstStyle/>
          <a:p>
            <a:pPr marL="0" indent="0" algn="l">
              <a:lnSpc>
                <a:spcPts val="3990"/>
              </a:lnSpc>
              <a:buNone/>
            </a:pPr>
            <a:r>
              <a:rPr lang="en-US" sz="3800" b="1" dirty="0">
                <a:solidFill>
                  <a:srgbClr val="F4B942"/>
                </a:solidFill>
                <a:latin typeface="Playfair Display" pitchFamily="18" charset="0"/>
                <a:ea typeface="Playfair Display" pitchFamily="18" charset="-122"/>
                <a:cs typeface="Playfair Display" pitchFamily="18" charset="-120"/>
              </a:rPr>
              <a:t>2020</a:t>
            </a:r>
            <a:endParaRPr lang="en-US" sz="3800" dirty="0"/>
          </a:p>
        </p:txBody>
      </p:sp>
      <p:sp>
        <p:nvSpPr>
          <p:cNvPr id="15" name="Text 13"/>
          <p:cNvSpPr/>
          <p:nvPr/>
        </p:nvSpPr>
        <p:spPr>
          <a:xfrm>
            <a:off x="6451600" y="2724051"/>
            <a:ext cx="2235200"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F1B2D"/>
                </a:solidFill>
                <a:latin typeface="Inter" pitchFamily="34" charset="0"/>
                <a:ea typeface="Inter" pitchFamily="34" charset="-122"/>
                <a:cs typeface="Inter" pitchFamily="34" charset="-120"/>
              </a:rPr>
              <a:t>Highest revenue year</a:t>
            </a:r>
            <a:endParaRPr lang="en-US" sz="1500" dirty="0"/>
          </a:p>
        </p:txBody>
      </p:sp>
      <p:sp>
        <p:nvSpPr>
          <p:cNvPr id="16" name="Shape 14"/>
          <p:cNvSpPr/>
          <p:nvPr/>
        </p:nvSpPr>
        <p:spPr>
          <a:xfrm>
            <a:off x="8890000" y="1785541"/>
            <a:ext cx="2489200" cy="1713210"/>
          </a:xfrm>
          <a:prstGeom prst="roundRect">
            <a:avLst>
              <a:gd name="adj" fmla="val 7413"/>
            </a:avLst>
          </a:prstGeom>
          <a:solidFill>
            <a:srgbClr val="FFFFFF"/>
          </a:solidFill>
          <a:ln/>
        </p:spPr>
        <p:txBody>
          <a:bodyPr/>
          <a:lstStyle/>
          <a:p>
            <a:endParaRPr lang="en-US"/>
          </a:p>
        </p:txBody>
      </p:sp>
      <p:sp>
        <p:nvSpPr>
          <p:cNvPr id="17" name="Shape 15"/>
          <p:cNvSpPr/>
          <p:nvPr/>
        </p:nvSpPr>
        <p:spPr>
          <a:xfrm>
            <a:off x="8890000" y="1785541"/>
            <a:ext cx="2489200" cy="1713210"/>
          </a:xfrm>
          <a:custGeom>
            <a:avLst/>
            <a:gdLst/>
            <a:ahLst/>
            <a:cxnLst/>
            <a:rect l="l" t="t" r="r" b="b"/>
            <a:pathLst>
              <a:path w="2489200" h="1713210">
                <a:moveTo>
                  <a:pt x="0" y="127000"/>
                </a:moveTo>
                <a:lnTo>
                  <a:pt x="0" y="127000"/>
                </a:lnTo>
                <a:arcTo wR="127000" hR="127000" stAng="10800000" swAng="5400000"/>
                <a:lnTo>
                  <a:pt x="2362200" y="0"/>
                </a:lnTo>
                <a:arcTo wR="127000" hR="127000" stAng="16200000" swAng="5400000"/>
                <a:lnTo>
                  <a:pt x="2489200" y="127000"/>
                </a:lnTo>
                <a:arcTo wR="127000" hR="63500" stAng="0" swAng="-5400000"/>
                <a:lnTo>
                  <a:pt x="127000" y="63500"/>
                </a:lnTo>
                <a:arcTo wR="127000" hR="63500" stAng="16200000" swAng="-5400000"/>
                <a:close/>
              </a:path>
            </a:pathLst>
          </a:custGeom>
          <a:solidFill>
            <a:srgbClr val="FF6B4A"/>
          </a:solidFill>
          <a:ln/>
        </p:spPr>
        <p:txBody>
          <a:bodyPr/>
          <a:lstStyle/>
          <a:p>
            <a:endParaRPr lang="en-US"/>
          </a:p>
        </p:txBody>
      </p:sp>
      <p:sp>
        <p:nvSpPr>
          <p:cNvPr id="18" name="Text 16"/>
          <p:cNvSpPr/>
          <p:nvPr/>
        </p:nvSpPr>
        <p:spPr>
          <a:xfrm>
            <a:off x="9144000" y="2128441"/>
            <a:ext cx="2040636" cy="532110"/>
          </a:xfrm>
          <a:prstGeom prst="rect">
            <a:avLst/>
          </a:prstGeom>
          <a:noFill/>
          <a:ln/>
        </p:spPr>
        <p:txBody>
          <a:bodyPr wrap="square" lIns="0" tIns="0" rIns="0" bIns="0" rtlCol="0" anchor="t">
            <a:normAutofit/>
          </a:bodyPr>
          <a:lstStyle/>
          <a:p>
            <a:pPr marL="0" indent="0" algn="l">
              <a:lnSpc>
                <a:spcPts val="3990"/>
              </a:lnSpc>
              <a:buNone/>
            </a:pPr>
            <a:r>
              <a:rPr lang="en-US" sz="3800" b="1" dirty="0">
                <a:solidFill>
                  <a:srgbClr val="FF6B4A"/>
                </a:solidFill>
                <a:latin typeface="Playfair Display" pitchFamily="18" charset="0"/>
                <a:ea typeface="Playfair Display" pitchFamily="18" charset="-122"/>
                <a:cs typeface="Playfair Display" pitchFamily="18" charset="-120"/>
              </a:rPr>
              <a:t>August</a:t>
            </a:r>
            <a:endParaRPr lang="en-US" sz="3800" dirty="0"/>
          </a:p>
        </p:txBody>
      </p:sp>
      <p:sp>
        <p:nvSpPr>
          <p:cNvPr id="19" name="Text 17"/>
          <p:cNvSpPr/>
          <p:nvPr/>
        </p:nvSpPr>
        <p:spPr>
          <a:xfrm>
            <a:off x="9144000" y="2724051"/>
            <a:ext cx="2040636"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F1B2D"/>
                </a:solidFill>
                <a:latin typeface="Inter" pitchFamily="34" charset="0"/>
                <a:ea typeface="Inter" pitchFamily="34" charset="-122"/>
                <a:cs typeface="Inter" pitchFamily="34" charset="-120"/>
              </a:rPr>
              <a:t>Best performing month</a:t>
            </a:r>
            <a:endParaRPr lang="en-US" sz="1500" dirty="0"/>
          </a:p>
        </p:txBody>
      </p:sp>
      <p:sp>
        <p:nvSpPr>
          <p:cNvPr id="20" name="Text 18"/>
          <p:cNvSpPr/>
          <p:nvPr/>
        </p:nvSpPr>
        <p:spPr>
          <a:xfrm>
            <a:off x="812800" y="3778151"/>
            <a:ext cx="10566400" cy="1005681"/>
          </a:xfrm>
          <a:prstGeom prst="roundRect">
            <a:avLst>
              <a:gd name="adj" fmla="val 12628"/>
            </a:avLst>
          </a:prstGeom>
          <a:solidFill>
            <a:srgbClr val="0F1B2D"/>
          </a:solidFill>
          <a:ln/>
        </p:spPr>
        <p:txBody>
          <a:bodyPr wrap="square" lIns="242203" tIns="191403" rIns="0" bIns="166003" rtlCol="0" anchor="t">
            <a:normAutofit/>
          </a:bodyPr>
          <a:lstStyle/>
          <a:p>
            <a:pPr marL="0" indent="0" algn="l">
              <a:lnSpc>
                <a:spcPts val="2160"/>
              </a:lnSpc>
              <a:buNone/>
            </a:pPr>
            <a:r>
              <a:rPr lang="en-US" sz="1600" dirty="0">
                <a:solidFill>
                  <a:srgbClr val="F7F2EA"/>
                </a:solidFill>
                <a:latin typeface="Inter" pitchFamily="34" charset="0"/>
                <a:ea typeface="Inter" pitchFamily="34" charset="-122"/>
                <a:cs typeface="Inter" pitchFamily="34" charset="-120"/>
              </a:rPr>
              <a:t>Revenue is broadly balanced across customers and products, so growth will come from </a:t>
            </a:r>
            <a:r>
              <a:rPr lang="en-US" sz="1600" b="1" dirty="0">
                <a:solidFill>
                  <a:srgbClr val="F4B942"/>
                </a:solidFill>
                <a:latin typeface="Inter" pitchFamily="34" charset="0"/>
                <a:ea typeface="Inter" pitchFamily="34" charset="-122"/>
                <a:cs typeface="Inter" pitchFamily="34" charset="-120"/>
              </a:rPr>
              <a:t>retention and timing</a:t>
            </a:r>
            <a:r>
              <a:rPr lang="en-US" sz="1600" dirty="0">
                <a:solidFill>
                  <a:srgbClr val="F7F2EA"/>
                </a:solidFill>
                <a:latin typeface="Inter" pitchFamily="34" charset="0"/>
                <a:ea typeface="Inter" pitchFamily="34" charset="-122"/>
                <a:cs typeface="Inter" pitchFamily="34" charset="-120"/>
              </a:rPr>
              <a:t> rather than one dominant segment.</a:t>
            </a:r>
            <a:endParaRPr lang="en-US" sz="1600"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Inter" pitchFamily="34" charset="0"/>
                <a:ea typeface="Inter" pitchFamily="34" charset="-122"/>
                <a:cs typeface="Inter" pitchFamily="34" charset="-120"/>
              </a:rPr>
              <a:t>Retail Sales Analytics · SUMMARY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9906000" y="0"/>
            <a:ext cx="3302000" cy="3302000"/>
          </a:xfrm>
          <a:prstGeom prst="roundRect">
            <a:avLst>
              <a:gd name="adj" fmla="val 49231"/>
            </a:avLst>
          </a:prstGeom>
          <a:solidFill>
            <a:srgbClr val="F4B942">
              <a:alpha val="25000"/>
            </a:srgbClr>
          </a:solidFill>
          <a:ln/>
        </p:spPr>
        <p:txBody>
          <a:bodyPr/>
          <a:lstStyle/>
          <a:p>
            <a:endParaRPr lang="en-US"/>
          </a:p>
        </p:txBody>
      </p:sp>
      <p:sp>
        <p:nvSpPr>
          <p:cNvPr id="3" name="Text 1"/>
          <p:cNvSpPr/>
          <p:nvPr/>
        </p:nvSpPr>
        <p:spPr>
          <a:xfrm>
            <a:off x="812800" y="711200"/>
            <a:ext cx="10883392" cy="198537"/>
          </a:xfrm>
          <a:prstGeom prst="rect">
            <a:avLst/>
          </a:prstGeom>
          <a:noFill/>
          <a:ln/>
        </p:spPr>
        <p:txBody>
          <a:bodyPr wrap="square" lIns="0" tIns="0" rIns="0" bIns="0" rtlCol="0" anchor="t">
            <a:normAutofit/>
          </a:bodyPr>
          <a:lstStyle/>
          <a:p>
            <a:pPr marL="0" indent="0" algn="l">
              <a:lnSpc>
                <a:spcPts val="1371"/>
              </a:lnSpc>
              <a:buNone/>
            </a:pPr>
            <a:r>
              <a:rPr lang="en-US" sz="979" b="1" kern="0" spc="250" dirty="0">
                <a:solidFill>
                  <a:srgbClr val="FF6B4A"/>
                </a:solidFill>
                <a:latin typeface="Inter" pitchFamily="34" charset="0"/>
                <a:ea typeface="Inter" pitchFamily="34" charset="-122"/>
                <a:cs typeface="Inter" pitchFamily="34" charset="-120"/>
              </a:rPr>
              <a:t>WHO BUYS</a:t>
            </a:r>
            <a:endParaRPr lang="en-US" sz="979" dirty="0"/>
          </a:p>
        </p:txBody>
      </p:sp>
      <p:sp>
        <p:nvSpPr>
          <p:cNvPr id="4" name="Text 2"/>
          <p:cNvSpPr>
            <a:spLocks noGrp="1"/>
          </p:cNvSpPr>
          <p:nvPr>
            <p:ph type="title"/>
          </p:nvPr>
        </p:nvSpPr>
        <p:spPr>
          <a:xfrm>
            <a:off x="812800" y="973237"/>
            <a:ext cx="10883392" cy="381397"/>
          </a:xfrm>
          <a:prstGeom prst="rect">
            <a:avLst/>
          </a:prstGeom>
          <a:noFill/>
          <a:ln/>
        </p:spPr>
        <p:txBody>
          <a:bodyPr wrap="square" lIns="0" tIns="0" rIns="0" bIns="0" rtlCol="0" anchor="t">
            <a:normAutofit/>
          </a:bodyPr>
          <a:lstStyle/>
          <a:p>
            <a:pPr marL="0" indent="0" algn="l">
              <a:lnSpc>
                <a:spcPts val="2817"/>
              </a:lnSpc>
              <a:buNone/>
            </a:pPr>
            <a:r>
              <a:rPr lang="en-US" sz="2561" b="1" i="0" dirty="0">
                <a:solidFill>
                  <a:srgbClr val="0F1B2D"/>
                </a:solidFill>
                <a:latin typeface="Playfair Display" pitchFamily="18" charset="0"/>
                <a:ea typeface="Playfair Display" pitchFamily="18" charset="-122"/>
                <a:cs typeface="Playfair Display" pitchFamily="18" charset="-120"/>
              </a:rPr>
              <a:t>Customer analysis</a:t>
            </a:r>
            <a:endParaRPr lang="en-US" sz="2561" dirty="0"/>
          </a:p>
        </p:txBody>
      </p:sp>
      <p:sp>
        <p:nvSpPr>
          <p:cNvPr id="5" name="Shape 3"/>
          <p:cNvSpPr/>
          <p:nvPr/>
        </p:nvSpPr>
        <p:spPr>
          <a:xfrm>
            <a:off x="812800" y="1608634"/>
            <a:ext cx="5486400" cy="4233366"/>
          </a:xfrm>
          <a:prstGeom prst="roundRect">
            <a:avLst>
              <a:gd name="adj" fmla="val 3600"/>
            </a:avLst>
          </a:prstGeom>
          <a:solidFill>
            <a:srgbClr val="0F1B2D"/>
          </a:solidFill>
          <a:ln/>
        </p:spPr>
        <p:txBody>
          <a:bodyPr/>
          <a:lstStyle/>
          <a:p>
            <a:endParaRPr lang="en-US"/>
          </a:p>
        </p:txBody>
      </p:sp>
      <p:sp>
        <p:nvSpPr>
          <p:cNvPr id="6" name="Text 4"/>
          <p:cNvSpPr/>
          <p:nvPr/>
        </p:nvSpPr>
        <p:spPr>
          <a:xfrm>
            <a:off x="1117600" y="1913434"/>
            <a:ext cx="5023104"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4B942"/>
                </a:solidFill>
                <a:latin typeface="Inter" pitchFamily="34" charset="0"/>
                <a:ea typeface="Inter" pitchFamily="34" charset="-122"/>
                <a:cs typeface="Inter" pitchFamily="34" charset="-120"/>
              </a:rPr>
              <a:t>55+ SEGMENT</a:t>
            </a:r>
            <a:endParaRPr lang="en-US" sz="1300" dirty="0"/>
          </a:p>
        </p:txBody>
      </p:sp>
      <p:sp>
        <p:nvSpPr>
          <p:cNvPr id="7" name="Text 5"/>
          <p:cNvSpPr/>
          <p:nvPr/>
        </p:nvSpPr>
        <p:spPr>
          <a:xfrm>
            <a:off x="1117600" y="2246114"/>
            <a:ext cx="5023104" cy="977900"/>
          </a:xfrm>
          <a:prstGeom prst="rect">
            <a:avLst/>
          </a:prstGeom>
          <a:noFill/>
          <a:ln/>
        </p:spPr>
        <p:txBody>
          <a:bodyPr wrap="square" lIns="0" tIns="0" rIns="0" bIns="0" rtlCol="0" anchor="t">
            <a:normAutofit/>
          </a:bodyPr>
          <a:lstStyle/>
          <a:p>
            <a:pPr marL="0" indent="0" algn="l">
              <a:lnSpc>
                <a:spcPts val="7500"/>
              </a:lnSpc>
              <a:buNone/>
            </a:pPr>
            <a:r>
              <a:rPr lang="en-US" sz="7500" b="1" dirty="0">
                <a:solidFill>
                  <a:srgbClr val="FF6B4A"/>
                </a:solidFill>
                <a:latin typeface="Playfair Display" pitchFamily="18" charset="0"/>
                <a:ea typeface="Playfair Display" pitchFamily="18" charset="-122"/>
                <a:cs typeface="Playfair Display" pitchFamily="18" charset="-120"/>
              </a:rPr>
              <a:t>198.2M</a:t>
            </a:r>
            <a:endParaRPr lang="en-US" sz="7500" dirty="0"/>
          </a:p>
        </p:txBody>
      </p:sp>
      <p:sp>
        <p:nvSpPr>
          <p:cNvPr id="8" name="Text 6"/>
          <p:cNvSpPr/>
          <p:nvPr/>
        </p:nvSpPr>
        <p:spPr>
          <a:xfrm>
            <a:off x="1117600" y="3300214"/>
            <a:ext cx="5023104" cy="57388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7F2EA"/>
                </a:solidFill>
                <a:latin typeface="Inter" pitchFamily="34" charset="0"/>
                <a:ea typeface="Inter" pitchFamily="34" charset="-122"/>
                <a:cs typeface="Inter" pitchFamily="34" charset="-120"/>
              </a:rPr>
              <a:t>Highest revenue of any age group, and also the largest segment with 13,959 customers.</a:t>
            </a:r>
            <a:endParaRPr lang="en-US" sz="1600" dirty="0"/>
          </a:p>
        </p:txBody>
      </p:sp>
      <p:sp>
        <p:nvSpPr>
          <p:cNvPr id="9" name="Shape 7"/>
          <p:cNvSpPr/>
          <p:nvPr/>
        </p:nvSpPr>
        <p:spPr>
          <a:xfrm>
            <a:off x="6502400" y="1608634"/>
            <a:ext cx="4876800" cy="1309489"/>
          </a:xfrm>
          <a:prstGeom prst="roundRect">
            <a:avLst>
              <a:gd name="adj" fmla="val 9698"/>
            </a:avLst>
          </a:prstGeom>
          <a:solidFill>
            <a:srgbClr val="FFFFFF"/>
          </a:solidFill>
          <a:ln/>
        </p:spPr>
        <p:txBody>
          <a:bodyPr/>
          <a:lstStyle/>
          <a:p>
            <a:endParaRPr lang="en-US"/>
          </a:p>
        </p:txBody>
      </p:sp>
      <p:sp>
        <p:nvSpPr>
          <p:cNvPr id="10" name="Shape 8"/>
          <p:cNvSpPr/>
          <p:nvPr/>
        </p:nvSpPr>
        <p:spPr>
          <a:xfrm>
            <a:off x="6502400" y="1608634"/>
            <a:ext cx="4876800" cy="1309489"/>
          </a:xfrm>
          <a:custGeom>
            <a:avLst/>
            <a:gdLst/>
            <a:ahLst/>
            <a:cxnLst/>
            <a:rect l="l" t="t" r="r" b="b"/>
            <a:pathLst>
              <a:path w="4876800" h="1309489">
                <a:moveTo>
                  <a:pt x="0" y="127000"/>
                </a:moveTo>
                <a:lnTo>
                  <a:pt x="0" y="127000"/>
                </a:lnTo>
                <a:arcTo wR="127000" hR="127000" stAng="10800000" swAng="5400000"/>
                <a:lnTo>
                  <a:pt x="4749800" y="0"/>
                </a:lnTo>
                <a:arcTo wR="127000" hR="127000" stAng="16200000" swAng="5400000"/>
                <a:lnTo>
                  <a:pt x="4876800" y="127000"/>
                </a:lnTo>
                <a:arcTo wR="127000" hR="63500" stAng="0" swAng="-5400000"/>
                <a:lnTo>
                  <a:pt x="127000" y="63500"/>
                </a:lnTo>
                <a:arcTo wR="127000" hR="63500" stAng="16200000" swAng="-5400000"/>
                <a:close/>
              </a:path>
            </a:pathLst>
          </a:custGeom>
          <a:solidFill>
            <a:srgbClr val="1FB5A6"/>
          </a:solidFill>
          <a:ln/>
        </p:spPr>
        <p:txBody>
          <a:bodyPr/>
          <a:lstStyle/>
          <a:p>
            <a:endParaRPr lang="en-US"/>
          </a:p>
        </p:txBody>
      </p:sp>
      <p:sp>
        <p:nvSpPr>
          <p:cNvPr id="11" name="Text 9"/>
          <p:cNvSpPr/>
          <p:nvPr/>
        </p:nvSpPr>
        <p:spPr>
          <a:xfrm>
            <a:off x="6756400" y="1951534"/>
            <a:ext cx="4499864" cy="327918"/>
          </a:xfrm>
          <a:prstGeom prst="rect">
            <a:avLst/>
          </a:prstGeom>
          <a:noFill/>
          <a:ln/>
        </p:spPr>
        <p:txBody>
          <a:bodyPr wrap="square" lIns="0" tIns="0" rIns="0" bIns="0" rtlCol="0" anchor="t">
            <a:normAutofit/>
          </a:bodyPr>
          <a:lstStyle/>
          <a:p>
            <a:pPr marL="0" indent="0" algn="l">
              <a:lnSpc>
                <a:spcPts val="2419"/>
              </a:lnSpc>
              <a:buNone/>
            </a:pPr>
            <a:r>
              <a:rPr lang="en-US" sz="2304" b="1" dirty="0">
                <a:solidFill>
                  <a:srgbClr val="1FB5A6"/>
                </a:solidFill>
                <a:latin typeface="Playfair Display" pitchFamily="18" charset="0"/>
                <a:ea typeface="Playfair Display" pitchFamily="18" charset="-122"/>
                <a:cs typeface="Playfair Display" pitchFamily="18" charset="-120"/>
              </a:rPr>
              <a:t>50 / 50</a:t>
            </a:r>
            <a:endParaRPr lang="en-US" sz="2304" dirty="0"/>
          </a:p>
        </p:txBody>
      </p:sp>
      <p:sp>
        <p:nvSpPr>
          <p:cNvPr id="12" name="Text 10"/>
          <p:cNvSpPr/>
          <p:nvPr/>
        </p:nvSpPr>
        <p:spPr>
          <a:xfrm>
            <a:off x="6756400" y="2342952"/>
            <a:ext cx="4622800" cy="321171"/>
          </a:xfrm>
          <a:prstGeom prst="rect">
            <a:avLst/>
          </a:prstGeom>
          <a:noFill/>
          <a:ln/>
        </p:spPr>
        <p:txBody>
          <a:bodyPr wrap="square" lIns="0" tIns="0" rIns="0" bIns="0" rtlCol="0" anchor="t">
            <a:normAutofit/>
          </a:bodyPr>
          <a:lstStyle/>
          <a:p>
            <a:pPr marL="0" indent="0" algn="l">
              <a:lnSpc>
                <a:spcPts val="1389"/>
              </a:lnSpc>
              <a:buNone/>
            </a:pPr>
            <a:r>
              <a:rPr lang="en-US" sz="1069" dirty="0">
                <a:solidFill>
                  <a:srgbClr val="0F1B2D"/>
                </a:solidFill>
                <a:latin typeface="Inter" pitchFamily="34" charset="0"/>
                <a:ea typeface="Inter" pitchFamily="34" charset="-122"/>
                <a:cs typeface="Inter" pitchFamily="34" charset="-120"/>
              </a:rPr>
              <a:t>Revenue is almost equally split between male and female customers</a:t>
            </a:r>
            <a:endParaRPr lang="en-US" sz="1069" dirty="0"/>
          </a:p>
        </p:txBody>
      </p:sp>
      <p:sp>
        <p:nvSpPr>
          <p:cNvPr id="13" name="Shape 11"/>
          <p:cNvSpPr/>
          <p:nvPr/>
        </p:nvSpPr>
        <p:spPr>
          <a:xfrm>
            <a:off x="6502400" y="3070523"/>
            <a:ext cx="4876800" cy="1309588"/>
          </a:xfrm>
          <a:prstGeom prst="roundRect">
            <a:avLst>
              <a:gd name="adj" fmla="val 9698"/>
            </a:avLst>
          </a:prstGeom>
          <a:solidFill>
            <a:srgbClr val="FFFFFF"/>
          </a:solidFill>
          <a:ln/>
        </p:spPr>
        <p:txBody>
          <a:bodyPr/>
          <a:lstStyle/>
          <a:p>
            <a:endParaRPr lang="en-US"/>
          </a:p>
        </p:txBody>
      </p:sp>
      <p:sp>
        <p:nvSpPr>
          <p:cNvPr id="14" name="Shape 12"/>
          <p:cNvSpPr/>
          <p:nvPr/>
        </p:nvSpPr>
        <p:spPr>
          <a:xfrm>
            <a:off x="6502400" y="3070523"/>
            <a:ext cx="4876800" cy="1309588"/>
          </a:xfrm>
          <a:custGeom>
            <a:avLst/>
            <a:gdLst/>
            <a:ahLst/>
            <a:cxnLst/>
            <a:rect l="l" t="t" r="r" b="b"/>
            <a:pathLst>
              <a:path w="4876800" h="1309588">
                <a:moveTo>
                  <a:pt x="0" y="127000"/>
                </a:moveTo>
                <a:lnTo>
                  <a:pt x="0" y="127000"/>
                </a:lnTo>
                <a:arcTo wR="127000" hR="127000" stAng="10800000" swAng="5400000"/>
                <a:lnTo>
                  <a:pt x="4749800" y="0"/>
                </a:lnTo>
                <a:arcTo wR="127000" hR="127000" stAng="16200000" swAng="5400000"/>
                <a:lnTo>
                  <a:pt x="4876800" y="127000"/>
                </a:lnTo>
                <a:arcTo wR="127000" hR="63500" stAng="0" swAng="-5400000"/>
                <a:lnTo>
                  <a:pt x="127000" y="63500"/>
                </a:lnTo>
                <a:arcTo wR="127000" hR="63500" stAng="16200000" swAng="-5400000"/>
                <a:close/>
              </a:path>
            </a:pathLst>
          </a:custGeom>
          <a:solidFill>
            <a:srgbClr val="F4B942"/>
          </a:solidFill>
          <a:ln/>
        </p:spPr>
        <p:txBody>
          <a:bodyPr/>
          <a:lstStyle/>
          <a:p>
            <a:endParaRPr lang="en-US"/>
          </a:p>
        </p:txBody>
      </p:sp>
      <p:sp>
        <p:nvSpPr>
          <p:cNvPr id="15" name="Text 13"/>
          <p:cNvSpPr/>
          <p:nvPr/>
        </p:nvSpPr>
        <p:spPr>
          <a:xfrm>
            <a:off x="6756400" y="3413423"/>
            <a:ext cx="4499864" cy="328017"/>
          </a:xfrm>
          <a:prstGeom prst="rect">
            <a:avLst/>
          </a:prstGeom>
          <a:noFill/>
          <a:ln/>
        </p:spPr>
        <p:txBody>
          <a:bodyPr wrap="square" lIns="0" tIns="0" rIns="0" bIns="0" rtlCol="0" anchor="t">
            <a:normAutofit/>
          </a:bodyPr>
          <a:lstStyle/>
          <a:p>
            <a:pPr marL="0" indent="0" algn="l">
              <a:lnSpc>
                <a:spcPts val="2419"/>
              </a:lnSpc>
              <a:buNone/>
            </a:pPr>
            <a:r>
              <a:rPr lang="en-US" sz="2304" b="1" dirty="0">
                <a:solidFill>
                  <a:srgbClr val="F4B942"/>
                </a:solidFill>
                <a:latin typeface="Playfair Display" pitchFamily="18" charset="0"/>
                <a:ea typeface="Playfair Display" pitchFamily="18" charset="-122"/>
                <a:cs typeface="Playfair Display" pitchFamily="18" charset="-120"/>
              </a:rPr>
              <a:t>Male</a:t>
            </a:r>
            <a:endParaRPr lang="en-US" sz="2304" dirty="0"/>
          </a:p>
        </p:txBody>
      </p:sp>
      <p:sp>
        <p:nvSpPr>
          <p:cNvPr id="16" name="Text 14"/>
          <p:cNvSpPr/>
          <p:nvPr/>
        </p:nvSpPr>
        <p:spPr>
          <a:xfrm>
            <a:off x="6756400" y="3804940"/>
            <a:ext cx="4622800" cy="321171"/>
          </a:xfrm>
          <a:prstGeom prst="rect">
            <a:avLst/>
          </a:prstGeom>
          <a:noFill/>
          <a:ln/>
        </p:spPr>
        <p:txBody>
          <a:bodyPr wrap="square" lIns="0" tIns="0" rIns="0" bIns="0" rtlCol="0" anchor="t">
            <a:normAutofit/>
          </a:bodyPr>
          <a:lstStyle/>
          <a:p>
            <a:pPr marL="0" indent="0" algn="l">
              <a:lnSpc>
                <a:spcPts val="1798"/>
              </a:lnSpc>
              <a:buNone/>
            </a:pPr>
            <a:r>
              <a:rPr lang="en-US" sz="1383" dirty="0">
                <a:solidFill>
                  <a:srgbClr val="0F1B2D"/>
                </a:solidFill>
                <a:latin typeface="Inter" pitchFamily="34" charset="0"/>
                <a:ea typeface="Inter" pitchFamily="34" charset="-122"/>
                <a:cs typeface="Inter" pitchFamily="34" charset="-120"/>
              </a:rPr>
              <a:t>Male customers have the higher average order value</a:t>
            </a:r>
            <a:endParaRPr lang="en-US" sz="1383" dirty="0"/>
          </a:p>
        </p:txBody>
      </p:sp>
      <p:sp>
        <p:nvSpPr>
          <p:cNvPr id="17" name="Shape 15"/>
          <p:cNvSpPr/>
          <p:nvPr/>
        </p:nvSpPr>
        <p:spPr>
          <a:xfrm>
            <a:off x="6502400" y="4532511"/>
            <a:ext cx="4876800" cy="1309489"/>
          </a:xfrm>
          <a:prstGeom prst="roundRect">
            <a:avLst>
              <a:gd name="adj" fmla="val 9698"/>
            </a:avLst>
          </a:prstGeom>
          <a:solidFill>
            <a:srgbClr val="FFFFFF"/>
          </a:solidFill>
          <a:ln/>
        </p:spPr>
        <p:txBody>
          <a:bodyPr/>
          <a:lstStyle/>
          <a:p>
            <a:endParaRPr lang="en-US"/>
          </a:p>
        </p:txBody>
      </p:sp>
      <p:sp>
        <p:nvSpPr>
          <p:cNvPr id="18" name="Shape 16"/>
          <p:cNvSpPr/>
          <p:nvPr/>
        </p:nvSpPr>
        <p:spPr>
          <a:xfrm>
            <a:off x="6502400" y="4532511"/>
            <a:ext cx="4876800" cy="1309489"/>
          </a:xfrm>
          <a:custGeom>
            <a:avLst/>
            <a:gdLst/>
            <a:ahLst/>
            <a:cxnLst/>
            <a:rect l="l" t="t" r="r" b="b"/>
            <a:pathLst>
              <a:path w="4876800" h="1309489">
                <a:moveTo>
                  <a:pt x="0" y="127000"/>
                </a:moveTo>
                <a:lnTo>
                  <a:pt x="0" y="127000"/>
                </a:lnTo>
                <a:arcTo wR="127000" hR="127000" stAng="10800000" swAng="5400000"/>
                <a:lnTo>
                  <a:pt x="4749800" y="0"/>
                </a:lnTo>
                <a:arcTo wR="127000" hR="127000" stAng="16200000" swAng="5400000"/>
                <a:lnTo>
                  <a:pt x="4876800" y="127000"/>
                </a:lnTo>
                <a:arcTo wR="127000" hR="63500" stAng="0" swAng="-5400000"/>
                <a:lnTo>
                  <a:pt x="127000" y="63500"/>
                </a:lnTo>
                <a:arcTo wR="127000" hR="63500" stAng="16200000" swAng="-5400000"/>
                <a:close/>
              </a:path>
            </a:pathLst>
          </a:custGeom>
          <a:solidFill>
            <a:srgbClr val="FF6B4A"/>
          </a:solidFill>
          <a:ln/>
        </p:spPr>
        <p:txBody>
          <a:bodyPr/>
          <a:lstStyle/>
          <a:p>
            <a:endParaRPr lang="en-US"/>
          </a:p>
        </p:txBody>
      </p:sp>
      <p:sp>
        <p:nvSpPr>
          <p:cNvPr id="19" name="Text 17"/>
          <p:cNvSpPr/>
          <p:nvPr/>
        </p:nvSpPr>
        <p:spPr>
          <a:xfrm>
            <a:off x="6756400" y="4875411"/>
            <a:ext cx="4499864" cy="327918"/>
          </a:xfrm>
          <a:prstGeom prst="rect">
            <a:avLst/>
          </a:prstGeom>
          <a:noFill/>
          <a:ln/>
        </p:spPr>
        <p:txBody>
          <a:bodyPr wrap="square" lIns="0" tIns="0" rIns="0" bIns="0" rtlCol="0" anchor="t">
            <a:normAutofit/>
          </a:bodyPr>
          <a:lstStyle/>
          <a:p>
            <a:pPr marL="0" indent="0" algn="l">
              <a:lnSpc>
                <a:spcPts val="2419"/>
              </a:lnSpc>
              <a:buNone/>
            </a:pPr>
            <a:r>
              <a:rPr lang="en-US" sz="2304" b="1" dirty="0">
                <a:solidFill>
                  <a:srgbClr val="FF6B4A"/>
                </a:solidFill>
                <a:latin typeface="Playfair Display" pitchFamily="18" charset="0"/>
                <a:ea typeface="Playfair Display" pitchFamily="18" charset="-122"/>
                <a:cs typeface="Playfair Display" pitchFamily="18" charset="-120"/>
              </a:rPr>
              <a:t>~20%</a:t>
            </a:r>
            <a:endParaRPr lang="en-US" sz="2304" dirty="0"/>
          </a:p>
        </p:txBody>
      </p:sp>
      <p:sp>
        <p:nvSpPr>
          <p:cNvPr id="20" name="Text 18"/>
          <p:cNvSpPr/>
          <p:nvPr/>
        </p:nvSpPr>
        <p:spPr>
          <a:xfrm>
            <a:off x="6756400" y="5266829"/>
            <a:ext cx="4622800" cy="321171"/>
          </a:xfrm>
          <a:prstGeom prst="rect">
            <a:avLst/>
          </a:prstGeom>
          <a:noFill/>
          <a:ln/>
        </p:spPr>
        <p:txBody>
          <a:bodyPr wrap="square" lIns="0" tIns="0" rIns="0" bIns="0" rtlCol="0" anchor="t">
            <a:normAutofit/>
          </a:bodyPr>
          <a:lstStyle/>
          <a:p>
            <a:pPr marL="0" indent="0" algn="l">
              <a:lnSpc>
                <a:spcPts val="1938"/>
              </a:lnSpc>
              <a:buNone/>
            </a:pPr>
            <a:r>
              <a:rPr lang="en-US" sz="1491" dirty="0">
                <a:solidFill>
                  <a:srgbClr val="0F1B2D"/>
                </a:solidFill>
                <a:latin typeface="Inter" pitchFamily="34" charset="0"/>
                <a:ea typeface="Inter" pitchFamily="34" charset="-122"/>
                <a:cs typeface="Inter" pitchFamily="34" charset="-120"/>
              </a:rPr>
              <a:t>Approximately a fifth of customers have churned</a:t>
            </a:r>
            <a:endParaRPr lang="en-US" sz="1491"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Inter" pitchFamily="34" charset="0"/>
                <a:ea typeface="Inter" pitchFamily="34" charset="-122"/>
                <a:cs typeface="Inter" pitchFamily="34" charset="-120"/>
              </a:rPr>
              <a:t>Retail Sales Analytics · CUSTOMERS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4826000"/>
            <a:ext cx="3302000" cy="3302000"/>
          </a:xfrm>
          <a:prstGeom prst="roundRect">
            <a:avLst>
              <a:gd name="adj" fmla="val 49231"/>
            </a:avLst>
          </a:prstGeom>
          <a:solidFill>
            <a:srgbClr val="1FB5A6">
              <a:alpha val="18000"/>
            </a:srgbClr>
          </a:solidFill>
          <a:ln/>
        </p:spPr>
        <p:txBody>
          <a:bodyPr/>
          <a:lstStyle/>
          <a:p>
            <a:endParaRPr lang="en-US"/>
          </a:p>
        </p:txBody>
      </p:sp>
      <p:sp>
        <p:nvSpPr>
          <p:cNvPr id="3" name="Text 1"/>
          <p:cNvSpPr/>
          <p:nvPr/>
        </p:nvSpPr>
        <p:spPr>
          <a:xfrm>
            <a:off x="812800" y="7112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50" dirty="0">
                <a:solidFill>
                  <a:srgbClr val="FF6B4A"/>
                </a:solidFill>
                <a:latin typeface="Inter" pitchFamily="34" charset="0"/>
                <a:ea typeface="Inter" pitchFamily="34" charset="-122"/>
                <a:cs typeface="Inter" pitchFamily="34" charset="-120"/>
              </a:rPr>
              <a:t>WHAT SELLS</a:t>
            </a:r>
            <a:endParaRPr lang="en-US" sz="1300" dirty="0"/>
          </a:p>
        </p:txBody>
      </p:sp>
      <p:sp>
        <p:nvSpPr>
          <p:cNvPr id="4" name="Text 2"/>
          <p:cNvSpPr>
            <a:spLocks noGrp="1"/>
          </p:cNvSpPr>
          <p:nvPr>
            <p:ph type="title"/>
          </p:nvPr>
        </p:nvSpPr>
        <p:spPr>
          <a:xfrm>
            <a:off x="812800" y="103118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F7F2EA"/>
                </a:solidFill>
                <a:latin typeface="Playfair Display" pitchFamily="18" charset="0"/>
                <a:ea typeface="Playfair Display" pitchFamily="18" charset="-122"/>
                <a:cs typeface="Playfair Display" pitchFamily="18" charset="-120"/>
              </a:rPr>
              <a:t>Product analysis</a:t>
            </a:r>
            <a:endParaRPr lang="en-US" sz="3400" dirty="0"/>
          </a:p>
        </p:txBody>
      </p:sp>
      <p:sp>
        <p:nvSpPr>
          <p:cNvPr id="5" name="Shape 3"/>
          <p:cNvSpPr/>
          <p:nvPr/>
        </p:nvSpPr>
        <p:spPr>
          <a:xfrm>
            <a:off x="812800" y="1785541"/>
            <a:ext cx="3386634" cy="1960860"/>
          </a:xfrm>
          <a:prstGeom prst="roundRect">
            <a:avLst>
              <a:gd name="adj" fmla="val 6477"/>
            </a:avLst>
          </a:prstGeom>
          <a:solidFill>
            <a:srgbClr val="1A2A42"/>
          </a:solidFill>
          <a:ln/>
        </p:spPr>
        <p:txBody>
          <a:bodyPr/>
          <a:lstStyle/>
          <a:p>
            <a:endParaRPr lang="en-US"/>
          </a:p>
        </p:txBody>
      </p:sp>
      <p:sp>
        <p:nvSpPr>
          <p:cNvPr id="6" name="Shape 4"/>
          <p:cNvSpPr/>
          <p:nvPr/>
        </p:nvSpPr>
        <p:spPr>
          <a:xfrm>
            <a:off x="812800" y="1785541"/>
            <a:ext cx="3386634" cy="1960860"/>
          </a:xfrm>
          <a:custGeom>
            <a:avLst/>
            <a:gdLst/>
            <a:ahLst/>
            <a:cxnLst/>
            <a:rect l="l" t="t" r="r" b="b"/>
            <a:pathLst>
              <a:path w="3386634" h="1960860">
                <a:moveTo>
                  <a:pt x="0" y="127000"/>
                </a:moveTo>
                <a:lnTo>
                  <a:pt x="0" y="127000"/>
                </a:lnTo>
                <a:arcTo wR="127000" hR="127000" stAng="10800000" swAng="5400000"/>
                <a:lnTo>
                  <a:pt x="3259634" y="0"/>
                </a:lnTo>
                <a:arcTo wR="127000" hR="127000" stAng="16200000" swAng="5400000"/>
                <a:lnTo>
                  <a:pt x="3386634" y="127000"/>
                </a:lnTo>
                <a:arcTo wR="127000" hR="63500" stAng="0" swAng="-5400000"/>
                <a:lnTo>
                  <a:pt x="127000" y="63500"/>
                </a:lnTo>
                <a:arcTo wR="127000" hR="63500" stAng="16200000" swAng="-5400000"/>
                <a:close/>
              </a:path>
            </a:pathLst>
          </a:custGeom>
          <a:solidFill>
            <a:srgbClr val="FF6B4A"/>
          </a:solidFill>
          <a:ln/>
        </p:spPr>
        <p:txBody>
          <a:bodyPr/>
          <a:lstStyle/>
          <a:p>
            <a:endParaRPr lang="en-US"/>
          </a:p>
        </p:txBody>
      </p:sp>
      <p:sp>
        <p:nvSpPr>
          <p:cNvPr id="7" name="Text 5"/>
          <p:cNvSpPr/>
          <p:nvPr/>
        </p:nvSpPr>
        <p:spPr>
          <a:xfrm>
            <a:off x="1066800" y="2128441"/>
            <a:ext cx="2964993" cy="532110"/>
          </a:xfrm>
          <a:prstGeom prst="rect">
            <a:avLst/>
          </a:prstGeom>
          <a:noFill/>
          <a:ln/>
        </p:spPr>
        <p:txBody>
          <a:bodyPr wrap="square" lIns="0" tIns="0" rIns="0" bIns="0" rtlCol="0" anchor="t">
            <a:normAutofit/>
          </a:bodyPr>
          <a:lstStyle/>
          <a:p>
            <a:pPr marL="0" indent="0" algn="l">
              <a:lnSpc>
                <a:spcPts val="3990"/>
              </a:lnSpc>
              <a:buNone/>
            </a:pPr>
            <a:r>
              <a:rPr lang="en-US" sz="3800" b="1" dirty="0">
                <a:solidFill>
                  <a:srgbClr val="FF6B4A"/>
                </a:solidFill>
                <a:latin typeface="Playfair Display" pitchFamily="18" charset="0"/>
                <a:ea typeface="Playfair Display" pitchFamily="18" charset="-122"/>
                <a:cs typeface="Playfair Display" pitchFamily="18" charset="-120"/>
              </a:rPr>
              <a:t>Home</a:t>
            </a:r>
            <a:endParaRPr lang="en-US" sz="3800" dirty="0"/>
          </a:p>
        </p:txBody>
      </p:sp>
      <p:sp>
        <p:nvSpPr>
          <p:cNvPr id="8" name="Text 6"/>
          <p:cNvSpPr/>
          <p:nvPr/>
        </p:nvSpPr>
        <p:spPr>
          <a:xfrm>
            <a:off x="1066800" y="2724051"/>
            <a:ext cx="2964993" cy="7683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7F2EA"/>
                </a:solidFill>
                <a:latin typeface="Inter" pitchFamily="34" charset="0"/>
                <a:ea typeface="Inter" pitchFamily="34" charset="-122"/>
                <a:cs typeface="Inter" pitchFamily="34" charset="-120"/>
              </a:rPr>
              <a:t>Highest revenue at 171.1M, while Books generated the lowest.</a:t>
            </a:r>
            <a:endParaRPr lang="en-US" sz="1500" dirty="0"/>
          </a:p>
        </p:txBody>
      </p:sp>
      <p:sp>
        <p:nvSpPr>
          <p:cNvPr id="9" name="Shape 7"/>
          <p:cNvSpPr/>
          <p:nvPr/>
        </p:nvSpPr>
        <p:spPr>
          <a:xfrm>
            <a:off x="4402634" y="1785541"/>
            <a:ext cx="3386733" cy="1960860"/>
          </a:xfrm>
          <a:prstGeom prst="roundRect">
            <a:avLst>
              <a:gd name="adj" fmla="val 6477"/>
            </a:avLst>
          </a:prstGeom>
          <a:solidFill>
            <a:srgbClr val="1A2A42"/>
          </a:solidFill>
          <a:ln/>
        </p:spPr>
        <p:txBody>
          <a:bodyPr/>
          <a:lstStyle/>
          <a:p>
            <a:endParaRPr lang="en-US"/>
          </a:p>
        </p:txBody>
      </p:sp>
      <p:sp>
        <p:nvSpPr>
          <p:cNvPr id="10" name="Shape 8"/>
          <p:cNvSpPr/>
          <p:nvPr/>
        </p:nvSpPr>
        <p:spPr>
          <a:xfrm>
            <a:off x="4402634" y="1785541"/>
            <a:ext cx="3386733" cy="1960860"/>
          </a:xfrm>
          <a:custGeom>
            <a:avLst/>
            <a:gdLst/>
            <a:ahLst/>
            <a:cxnLst/>
            <a:rect l="l" t="t" r="r" b="b"/>
            <a:pathLst>
              <a:path w="3386733" h="1960860">
                <a:moveTo>
                  <a:pt x="0" y="127000"/>
                </a:moveTo>
                <a:lnTo>
                  <a:pt x="0" y="127000"/>
                </a:lnTo>
                <a:arcTo wR="127000" hR="127000" stAng="10800000" swAng="5400000"/>
                <a:lnTo>
                  <a:pt x="3259733" y="0"/>
                </a:lnTo>
                <a:arcTo wR="127000" hR="127000" stAng="16200000" swAng="5400000"/>
                <a:lnTo>
                  <a:pt x="3386733" y="127000"/>
                </a:lnTo>
                <a:arcTo wR="127000" hR="63500" stAng="0" swAng="-5400000"/>
                <a:lnTo>
                  <a:pt x="127000" y="63500"/>
                </a:lnTo>
                <a:arcTo wR="127000" hR="63500" stAng="16200000" swAng="-5400000"/>
                <a:close/>
              </a:path>
            </a:pathLst>
          </a:custGeom>
          <a:solidFill>
            <a:srgbClr val="1FB5A6"/>
          </a:solidFill>
          <a:ln/>
        </p:spPr>
        <p:txBody>
          <a:bodyPr/>
          <a:lstStyle/>
          <a:p>
            <a:endParaRPr lang="en-US"/>
          </a:p>
        </p:txBody>
      </p:sp>
      <p:sp>
        <p:nvSpPr>
          <p:cNvPr id="11" name="Text 9"/>
          <p:cNvSpPr/>
          <p:nvPr/>
        </p:nvSpPr>
        <p:spPr>
          <a:xfrm>
            <a:off x="4656634" y="2128441"/>
            <a:ext cx="2965095" cy="532110"/>
          </a:xfrm>
          <a:prstGeom prst="rect">
            <a:avLst/>
          </a:prstGeom>
          <a:noFill/>
          <a:ln/>
        </p:spPr>
        <p:txBody>
          <a:bodyPr wrap="square" lIns="0" tIns="0" rIns="0" bIns="0" rtlCol="0" anchor="t">
            <a:normAutofit/>
          </a:bodyPr>
          <a:lstStyle/>
          <a:p>
            <a:pPr marL="0" indent="0" algn="l">
              <a:lnSpc>
                <a:spcPts val="3990"/>
              </a:lnSpc>
              <a:buNone/>
            </a:pPr>
            <a:r>
              <a:rPr lang="en-US" sz="3800" b="1" dirty="0">
                <a:solidFill>
                  <a:srgbClr val="1FB5A6"/>
                </a:solidFill>
                <a:latin typeface="Playfair Display" pitchFamily="18" charset="0"/>
                <a:ea typeface="Playfair Display" pitchFamily="18" charset="-122"/>
                <a:cs typeface="Playfair Display" pitchFamily="18" charset="-120"/>
              </a:rPr>
              <a:t>Clothing</a:t>
            </a:r>
            <a:endParaRPr lang="en-US" sz="3800" dirty="0"/>
          </a:p>
        </p:txBody>
      </p:sp>
      <p:sp>
        <p:nvSpPr>
          <p:cNvPr id="12" name="Text 10"/>
          <p:cNvSpPr/>
          <p:nvPr/>
        </p:nvSpPr>
        <p:spPr>
          <a:xfrm>
            <a:off x="4656634" y="2724051"/>
            <a:ext cx="2965095" cy="7683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7F2EA"/>
                </a:solidFill>
                <a:latin typeface="Inter" pitchFamily="34" charset="0"/>
                <a:ea typeface="Inter" pitchFamily="34" charset="-122"/>
                <a:cs typeface="Inter" pitchFamily="34" charset="-120"/>
              </a:rPr>
              <a:t>Sold the highest quantity and is the fastest-growing category over time.</a:t>
            </a:r>
            <a:endParaRPr lang="en-US" sz="1500" dirty="0"/>
          </a:p>
        </p:txBody>
      </p:sp>
      <p:sp>
        <p:nvSpPr>
          <p:cNvPr id="13" name="Shape 11"/>
          <p:cNvSpPr/>
          <p:nvPr/>
        </p:nvSpPr>
        <p:spPr>
          <a:xfrm>
            <a:off x="7992566" y="1785541"/>
            <a:ext cx="3386634" cy="1960860"/>
          </a:xfrm>
          <a:prstGeom prst="roundRect">
            <a:avLst>
              <a:gd name="adj" fmla="val 6477"/>
            </a:avLst>
          </a:prstGeom>
          <a:solidFill>
            <a:srgbClr val="1A2A42"/>
          </a:solidFill>
          <a:ln/>
        </p:spPr>
        <p:txBody>
          <a:bodyPr/>
          <a:lstStyle/>
          <a:p>
            <a:endParaRPr lang="en-US"/>
          </a:p>
        </p:txBody>
      </p:sp>
      <p:sp>
        <p:nvSpPr>
          <p:cNvPr id="14" name="Shape 12"/>
          <p:cNvSpPr/>
          <p:nvPr/>
        </p:nvSpPr>
        <p:spPr>
          <a:xfrm>
            <a:off x="7992566" y="1785541"/>
            <a:ext cx="3386634" cy="1960860"/>
          </a:xfrm>
          <a:custGeom>
            <a:avLst/>
            <a:gdLst/>
            <a:ahLst/>
            <a:cxnLst/>
            <a:rect l="l" t="t" r="r" b="b"/>
            <a:pathLst>
              <a:path w="3386634" h="1960860">
                <a:moveTo>
                  <a:pt x="0" y="127000"/>
                </a:moveTo>
                <a:lnTo>
                  <a:pt x="0" y="127000"/>
                </a:lnTo>
                <a:arcTo wR="127000" hR="127000" stAng="10800000" swAng="5400000"/>
                <a:lnTo>
                  <a:pt x="3259634" y="0"/>
                </a:lnTo>
                <a:arcTo wR="127000" hR="127000" stAng="16200000" swAng="5400000"/>
                <a:lnTo>
                  <a:pt x="3386634" y="127000"/>
                </a:lnTo>
                <a:arcTo wR="127000" hR="63500" stAng="0" swAng="-5400000"/>
                <a:lnTo>
                  <a:pt x="127000" y="63500"/>
                </a:lnTo>
                <a:arcTo wR="127000" hR="63500" stAng="16200000" swAng="-5400000"/>
                <a:close/>
              </a:path>
            </a:pathLst>
          </a:custGeom>
          <a:solidFill>
            <a:srgbClr val="F4B942"/>
          </a:solidFill>
          <a:ln/>
        </p:spPr>
        <p:txBody>
          <a:bodyPr/>
          <a:lstStyle/>
          <a:p>
            <a:endParaRPr lang="en-US"/>
          </a:p>
        </p:txBody>
      </p:sp>
      <p:sp>
        <p:nvSpPr>
          <p:cNvPr id="15" name="Text 13"/>
          <p:cNvSpPr/>
          <p:nvPr/>
        </p:nvSpPr>
        <p:spPr>
          <a:xfrm>
            <a:off x="8246566" y="2128441"/>
            <a:ext cx="2964993" cy="532110"/>
          </a:xfrm>
          <a:prstGeom prst="rect">
            <a:avLst/>
          </a:prstGeom>
          <a:noFill/>
          <a:ln/>
        </p:spPr>
        <p:txBody>
          <a:bodyPr wrap="square" lIns="0" tIns="0" rIns="0" bIns="0" rtlCol="0" anchor="t">
            <a:normAutofit/>
          </a:bodyPr>
          <a:lstStyle/>
          <a:p>
            <a:pPr marL="0" indent="0" algn="l">
              <a:lnSpc>
                <a:spcPts val="3990"/>
              </a:lnSpc>
              <a:buNone/>
            </a:pPr>
            <a:r>
              <a:rPr lang="en-US" sz="3800" b="1" dirty="0">
                <a:solidFill>
                  <a:srgbClr val="F4B942"/>
                </a:solidFill>
                <a:latin typeface="Playfair Display" pitchFamily="18" charset="0"/>
                <a:ea typeface="Playfair Display" pitchFamily="18" charset="-122"/>
                <a:cs typeface="Playfair Display" pitchFamily="18" charset="-120"/>
              </a:rPr>
              <a:t>~25% each</a:t>
            </a:r>
            <a:endParaRPr lang="en-US" sz="3800" dirty="0"/>
          </a:p>
        </p:txBody>
      </p:sp>
      <p:sp>
        <p:nvSpPr>
          <p:cNvPr id="16" name="Text 14"/>
          <p:cNvSpPr/>
          <p:nvPr/>
        </p:nvSpPr>
        <p:spPr>
          <a:xfrm>
            <a:off x="8246566" y="2724051"/>
            <a:ext cx="2964993" cy="7683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7F2EA"/>
                </a:solidFill>
                <a:latin typeface="Inter" pitchFamily="34" charset="0"/>
                <a:ea typeface="Inter" pitchFamily="34" charset="-122"/>
                <a:cs typeface="Inter" pitchFamily="34" charset="-120"/>
              </a:rPr>
              <a:t>Revenue is evenly distributed, with each category contributing about a quarter.</a:t>
            </a:r>
            <a:endParaRPr lang="en-US" sz="1500" dirty="0"/>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Inter" pitchFamily="34" charset="0"/>
                <a:ea typeface="Inter" pitchFamily="34" charset="-122"/>
                <a:cs typeface="Inter" pitchFamily="34" charset="-120"/>
              </a:rPr>
              <a:t>Retail Sales Analytics · PRODUCTS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42888"/>
          </a:xfrm>
          <a:prstGeom prst="rect">
            <a:avLst/>
          </a:prstGeom>
          <a:noFill/>
          <a:ln/>
        </p:spPr>
        <p:txBody>
          <a:bodyPr wrap="square" lIns="0" tIns="0" rIns="0" bIns="0" rtlCol="0" anchor="t">
            <a:normAutofit/>
          </a:bodyPr>
          <a:lstStyle/>
          <a:p>
            <a:pPr marL="0" indent="0" algn="l">
              <a:lnSpc>
                <a:spcPts val="1723"/>
              </a:lnSpc>
              <a:buNone/>
            </a:pPr>
            <a:r>
              <a:rPr lang="en-US" sz="1231" b="1" kern="0" spc="250" dirty="0">
                <a:solidFill>
                  <a:srgbClr val="FF6B4A"/>
                </a:solidFill>
                <a:latin typeface="Inter" pitchFamily="34" charset="0"/>
                <a:ea typeface="Inter" pitchFamily="34" charset="-122"/>
                <a:cs typeface="Inter" pitchFamily="34" charset="-120"/>
              </a:rPr>
              <a:t>WHO RETURNS</a:t>
            </a:r>
            <a:endParaRPr lang="en-US" sz="1231" dirty="0"/>
          </a:p>
        </p:txBody>
      </p:sp>
      <p:sp>
        <p:nvSpPr>
          <p:cNvPr id="3" name="Text 1"/>
          <p:cNvSpPr>
            <a:spLocks noGrp="1"/>
          </p:cNvSpPr>
          <p:nvPr>
            <p:ph type="title"/>
          </p:nvPr>
        </p:nvSpPr>
        <p:spPr>
          <a:xfrm>
            <a:off x="812800" y="1017588"/>
            <a:ext cx="10883392" cy="472678"/>
          </a:xfrm>
          <a:prstGeom prst="rect">
            <a:avLst/>
          </a:prstGeom>
          <a:noFill/>
          <a:ln/>
        </p:spPr>
        <p:txBody>
          <a:bodyPr wrap="square" lIns="0" tIns="0" rIns="0" bIns="0" rtlCol="0" anchor="t">
            <a:normAutofit/>
          </a:bodyPr>
          <a:lstStyle/>
          <a:p>
            <a:pPr marL="0" indent="0" algn="l">
              <a:lnSpc>
                <a:spcPts val="3518"/>
              </a:lnSpc>
              <a:buNone/>
            </a:pPr>
            <a:r>
              <a:rPr lang="en-US" sz="3198" b="1" i="0" dirty="0">
                <a:solidFill>
                  <a:srgbClr val="F7F2EA"/>
                </a:solidFill>
                <a:latin typeface="Playfair Display" pitchFamily="18" charset="0"/>
                <a:ea typeface="Playfair Display" pitchFamily="18" charset="-122"/>
                <a:cs typeface="Playfair Display" pitchFamily="18" charset="-120"/>
              </a:rPr>
              <a:t>Churn analysis</a:t>
            </a:r>
            <a:endParaRPr lang="en-US" sz="3198" dirty="0"/>
          </a:p>
        </p:txBody>
      </p:sp>
      <p:pic>
        <p:nvPicPr>
          <p:cNvPr id="4" name="Image 0" descr="Donut chart showing 19.99 percent churn"/>
          <p:cNvPicPr>
            <a:picLocks noChangeAspect="1"/>
          </p:cNvPicPr>
          <p:nvPr/>
        </p:nvPicPr>
        <p:blipFill>
          <a:blip r:embed="rId3"/>
          <a:srcRect/>
          <a:stretch/>
        </p:blipFill>
        <p:spPr>
          <a:xfrm>
            <a:off x="812800" y="2459633"/>
            <a:ext cx="2667000" cy="2667000"/>
          </a:xfrm>
          <a:prstGeom prst="rect">
            <a:avLst/>
          </a:prstGeom>
        </p:spPr>
      </p:pic>
      <p:sp>
        <p:nvSpPr>
          <p:cNvPr id="5" name="Shape 2"/>
          <p:cNvSpPr/>
          <p:nvPr/>
        </p:nvSpPr>
        <p:spPr>
          <a:xfrm>
            <a:off x="3835400" y="2127548"/>
            <a:ext cx="3594100" cy="1713210"/>
          </a:xfrm>
          <a:prstGeom prst="roundRect">
            <a:avLst>
              <a:gd name="adj" fmla="val 7413"/>
            </a:avLst>
          </a:prstGeom>
          <a:solidFill>
            <a:srgbClr val="1A2A42"/>
          </a:solidFill>
          <a:ln/>
        </p:spPr>
        <p:txBody>
          <a:bodyPr/>
          <a:lstStyle/>
          <a:p>
            <a:endParaRPr lang="en-US" dirty="0"/>
          </a:p>
        </p:txBody>
      </p:sp>
      <p:sp>
        <p:nvSpPr>
          <p:cNvPr id="6" name="Shape 3"/>
          <p:cNvSpPr/>
          <p:nvPr/>
        </p:nvSpPr>
        <p:spPr>
          <a:xfrm>
            <a:off x="3835400" y="2127548"/>
            <a:ext cx="3594100" cy="1713210"/>
          </a:xfrm>
          <a:custGeom>
            <a:avLst/>
            <a:gdLst/>
            <a:ahLst/>
            <a:cxnLst/>
            <a:rect l="l" t="t" r="r" b="b"/>
            <a:pathLst>
              <a:path w="3594100" h="1713210">
                <a:moveTo>
                  <a:pt x="0" y="127000"/>
                </a:moveTo>
                <a:lnTo>
                  <a:pt x="0" y="127000"/>
                </a:lnTo>
                <a:arcTo wR="127000" hR="127000" stAng="10800000" swAng="5400000"/>
                <a:lnTo>
                  <a:pt x="3467100" y="0"/>
                </a:lnTo>
                <a:arcTo wR="127000" hR="127000" stAng="16200000" swAng="5400000"/>
                <a:lnTo>
                  <a:pt x="3594100" y="127000"/>
                </a:lnTo>
                <a:arcTo wR="127000" hR="63500" stAng="0" swAng="-5400000"/>
                <a:lnTo>
                  <a:pt x="127000" y="63500"/>
                </a:lnTo>
                <a:arcTo wR="127000" hR="63500" stAng="16200000" swAng="-5400000"/>
                <a:close/>
              </a:path>
            </a:pathLst>
          </a:custGeom>
          <a:solidFill>
            <a:srgbClr val="F4B942"/>
          </a:solidFill>
          <a:ln/>
        </p:spPr>
        <p:txBody>
          <a:bodyPr/>
          <a:lstStyle/>
          <a:p>
            <a:endParaRPr lang="en-US"/>
          </a:p>
        </p:txBody>
      </p:sp>
      <p:sp>
        <p:nvSpPr>
          <p:cNvPr id="7" name="Text 4"/>
          <p:cNvSpPr/>
          <p:nvPr/>
        </p:nvSpPr>
        <p:spPr>
          <a:xfrm>
            <a:off x="4089400" y="2470448"/>
            <a:ext cx="3178683" cy="532110"/>
          </a:xfrm>
          <a:prstGeom prst="rect">
            <a:avLst/>
          </a:prstGeom>
          <a:noFill/>
          <a:ln/>
        </p:spPr>
        <p:txBody>
          <a:bodyPr wrap="square" lIns="0" tIns="0" rIns="0" bIns="0" rtlCol="0" anchor="t">
            <a:normAutofit/>
          </a:bodyPr>
          <a:lstStyle/>
          <a:p>
            <a:pPr marL="0" indent="0" algn="l">
              <a:lnSpc>
                <a:spcPts val="3990"/>
              </a:lnSpc>
              <a:buNone/>
            </a:pPr>
            <a:r>
              <a:rPr lang="en-US" sz="3800" b="1" dirty="0">
                <a:solidFill>
                  <a:srgbClr val="F4B942"/>
                </a:solidFill>
                <a:latin typeface="Playfair Display" pitchFamily="18" charset="0"/>
                <a:ea typeface="Playfair Display" pitchFamily="18" charset="-122"/>
                <a:cs typeface="Playfair Display" pitchFamily="18" charset="-120"/>
              </a:rPr>
              <a:t>20.07%</a:t>
            </a:r>
            <a:endParaRPr lang="en-US" sz="3800" dirty="0"/>
          </a:p>
        </p:txBody>
      </p:sp>
      <p:sp>
        <p:nvSpPr>
          <p:cNvPr id="8" name="Text 5"/>
          <p:cNvSpPr/>
          <p:nvPr/>
        </p:nvSpPr>
        <p:spPr>
          <a:xfrm>
            <a:off x="4089400" y="3066058"/>
            <a:ext cx="3178683"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7F2EA"/>
                </a:solidFill>
                <a:latin typeface="Inter" pitchFamily="34" charset="0"/>
                <a:ea typeface="Inter" pitchFamily="34" charset="-122"/>
                <a:cs typeface="Inter" pitchFamily="34" charset="-120"/>
              </a:rPr>
              <a:t>Share of total revenue from churned customers</a:t>
            </a:r>
            <a:endParaRPr lang="en-US" sz="1500" dirty="0"/>
          </a:p>
        </p:txBody>
      </p:sp>
      <p:sp>
        <p:nvSpPr>
          <p:cNvPr id="9" name="Shape 6"/>
          <p:cNvSpPr/>
          <p:nvPr/>
        </p:nvSpPr>
        <p:spPr>
          <a:xfrm>
            <a:off x="3835400" y="3993158"/>
            <a:ext cx="3594100" cy="1465560"/>
          </a:xfrm>
          <a:prstGeom prst="roundRect">
            <a:avLst>
              <a:gd name="adj" fmla="val 8666"/>
            </a:avLst>
          </a:prstGeom>
          <a:solidFill>
            <a:srgbClr val="1A2A42"/>
          </a:solidFill>
          <a:ln/>
        </p:spPr>
        <p:txBody>
          <a:bodyPr/>
          <a:lstStyle/>
          <a:p>
            <a:endParaRPr lang="en-US"/>
          </a:p>
        </p:txBody>
      </p:sp>
      <p:sp>
        <p:nvSpPr>
          <p:cNvPr id="10" name="Shape 7"/>
          <p:cNvSpPr/>
          <p:nvPr/>
        </p:nvSpPr>
        <p:spPr>
          <a:xfrm>
            <a:off x="3835400" y="3993158"/>
            <a:ext cx="3594100" cy="1465560"/>
          </a:xfrm>
          <a:custGeom>
            <a:avLst/>
            <a:gdLst/>
            <a:ahLst/>
            <a:cxnLst/>
            <a:rect l="l" t="t" r="r" b="b"/>
            <a:pathLst>
              <a:path w="3594100" h="1465560">
                <a:moveTo>
                  <a:pt x="0" y="127000"/>
                </a:moveTo>
                <a:lnTo>
                  <a:pt x="0" y="127000"/>
                </a:lnTo>
                <a:arcTo wR="127000" hR="127000" stAng="10800000" swAng="5400000"/>
                <a:lnTo>
                  <a:pt x="3467100" y="0"/>
                </a:lnTo>
                <a:arcTo wR="127000" hR="127000" stAng="16200000" swAng="5400000"/>
                <a:lnTo>
                  <a:pt x="3594100" y="127000"/>
                </a:lnTo>
                <a:arcTo wR="127000" hR="63500" stAng="0" swAng="-5400000"/>
                <a:lnTo>
                  <a:pt x="127000" y="63500"/>
                </a:lnTo>
                <a:arcTo wR="127000" hR="63500" stAng="16200000" swAng="-5400000"/>
                <a:close/>
              </a:path>
            </a:pathLst>
          </a:custGeom>
          <a:solidFill>
            <a:srgbClr val="FF6B4A"/>
          </a:solidFill>
          <a:ln/>
        </p:spPr>
        <p:txBody>
          <a:bodyPr/>
          <a:lstStyle/>
          <a:p>
            <a:endParaRPr lang="en-US"/>
          </a:p>
        </p:txBody>
      </p:sp>
      <p:sp>
        <p:nvSpPr>
          <p:cNvPr id="11" name="Text 8"/>
          <p:cNvSpPr/>
          <p:nvPr/>
        </p:nvSpPr>
        <p:spPr>
          <a:xfrm>
            <a:off x="4089400" y="4336058"/>
            <a:ext cx="3178683" cy="532110"/>
          </a:xfrm>
          <a:prstGeom prst="rect">
            <a:avLst/>
          </a:prstGeom>
          <a:noFill/>
          <a:ln/>
        </p:spPr>
        <p:txBody>
          <a:bodyPr wrap="square" lIns="0" tIns="0" rIns="0" bIns="0" rtlCol="0" anchor="t">
            <a:normAutofit/>
          </a:bodyPr>
          <a:lstStyle/>
          <a:p>
            <a:pPr marL="0" indent="0" algn="l">
              <a:lnSpc>
                <a:spcPts val="3990"/>
              </a:lnSpc>
              <a:buNone/>
            </a:pPr>
            <a:r>
              <a:rPr lang="en-US" sz="3800" b="1" dirty="0">
                <a:solidFill>
                  <a:srgbClr val="FF6B4A"/>
                </a:solidFill>
                <a:latin typeface="Playfair Display" pitchFamily="18" charset="0"/>
                <a:ea typeface="Playfair Display" pitchFamily="18" charset="-122"/>
                <a:cs typeface="Playfair Display" pitchFamily="18" charset="-120"/>
              </a:rPr>
              <a:t>20.69%</a:t>
            </a:r>
            <a:endParaRPr lang="en-US" sz="3800" dirty="0"/>
          </a:p>
        </p:txBody>
      </p:sp>
      <p:sp>
        <p:nvSpPr>
          <p:cNvPr id="12" name="Text 9"/>
          <p:cNvSpPr/>
          <p:nvPr/>
        </p:nvSpPr>
        <p:spPr>
          <a:xfrm>
            <a:off x="4089400" y="4931668"/>
            <a:ext cx="3178683"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7F2EA"/>
                </a:solidFill>
                <a:latin typeface="Inter" pitchFamily="34" charset="0"/>
                <a:ea typeface="Inter" pitchFamily="34" charset="-122"/>
                <a:cs typeface="Inter" pitchFamily="34" charset="-120"/>
              </a:rPr>
              <a:t>Highest churn age group: 18-25</a:t>
            </a:r>
            <a:endParaRPr lang="en-US" sz="1500" dirty="0"/>
          </a:p>
        </p:txBody>
      </p:sp>
      <p:sp>
        <p:nvSpPr>
          <p:cNvPr id="13" name="Shape 10"/>
          <p:cNvSpPr/>
          <p:nvPr/>
        </p:nvSpPr>
        <p:spPr>
          <a:xfrm>
            <a:off x="7785100" y="1632248"/>
            <a:ext cx="3594100" cy="1960860"/>
          </a:xfrm>
          <a:prstGeom prst="roundRect">
            <a:avLst>
              <a:gd name="adj" fmla="val 6477"/>
            </a:avLst>
          </a:prstGeom>
          <a:solidFill>
            <a:srgbClr val="1A2A42"/>
          </a:solidFill>
          <a:ln/>
        </p:spPr>
        <p:txBody>
          <a:bodyPr/>
          <a:lstStyle/>
          <a:p>
            <a:endParaRPr lang="en-US"/>
          </a:p>
        </p:txBody>
      </p:sp>
      <p:sp>
        <p:nvSpPr>
          <p:cNvPr id="14" name="Shape 11"/>
          <p:cNvSpPr/>
          <p:nvPr/>
        </p:nvSpPr>
        <p:spPr>
          <a:xfrm>
            <a:off x="7785100" y="1632248"/>
            <a:ext cx="3594100" cy="1960860"/>
          </a:xfrm>
          <a:custGeom>
            <a:avLst/>
            <a:gdLst/>
            <a:ahLst/>
            <a:cxnLst/>
            <a:rect l="l" t="t" r="r" b="b"/>
            <a:pathLst>
              <a:path w="3594100" h="1960860">
                <a:moveTo>
                  <a:pt x="0" y="127000"/>
                </a:moveTo>
                <a:lnTo>
                  <a:pt x="0" y="127000"/>
                </a:lnTo>
                <a:arcTo wR="127000" hR="127000" stAng="10800000" swAng="5400000"/>
                <a:lnTo>
                  <a:pt x="3467100" y="0"/>
                </a:lnTo>
                <a:arcTo wR="127000" hR="127000" stAng="16200000" swAng="5400000"/>
                <a:lnTo>
                  <a:pt x="3594100" y="127000"/>
                </a:lnTo>
                <a:arcTo wR="127000" hR="63500" stAng="0" swAng="-5400000"/>
                <a:lnTo>
                  <a:pt x="127000" y="63500"/>
                </a:lnTo>
                <a:arcTo wR="127000" hR="63500" stAng="16200000" swAng="-5400000"/>
                <a:close/>
              </a:path>
            </a:pathLst>
          </a:custGeom>
          <a:solidFill>
            <a:srgbClr val="1FB5A6"/>
          </a:solidFill>
          <a:ln/>
        </p:spPr>
        <p:txBody>
          <a:bodyPr/>
          <a:lstStyle/>
          <a:p>
            <a:endParaRPr lang="en-US"/>
          </a:p>
        </p:txBody>
      </p:sp>
      <p:sp>
        <p:nvSpPr>
          <p:cNvPr id="15" name="Text 12"/>
          <p:cNvSpPr/>
          <p:nvPr/>
        </p:nvSpPr>
        <p:spPr>
          <a:xfrm>
            <a:off x="8039100" y="1975148"/>
            <a:ext cx="3178683" cy="532110"/>
          </a:xfrm>
          <a:prstGeom prst="rect">
            <a:avLst/>
          </a:prstGeom>
          <a:noFill/>
          <a:ln/>
        </p:spPr>
        <p:txBody>
          <a:bodyPr wrap="square" lIns="0" tIns="0" rIns="0" bIns="0" rtlCol="0" anchor="t">
            <a:normAutofit/>
          </a:bodyPr>
          <a:lstStyle/>
          <a:p>
            <a:pPr marL="0" indent="0" algn="l">
              <a:lnSpc>
                <a:spcPts val="3990"/>
              </a:lnSpc>
              <a:buNone/>
            </a:pPr>
            <a:r>
              <a:rPr lang="en-US" sz="3800" b="1" dirty="0">
                <a:solidFill>
                  <a:srgbClr val="1FB5A6"/>
                </a:solidFill>
                <a:latin typeface="Playfair Display" pitchFamily="18" charset="0"/>
                <a:ea typeface="Playfair Display" pitchFamily="18" charset="-122"/>
                <a:cs typeface="Playfair Display" pitchFamily="18" charset="-120"/>
              </a:rPr>
              <a:t>20.03%</a:t>
            </a:r>
            <a:endParaRPr lang="en-US" sz="3800" dirty="0"/>
          </a:p>
        </p:txBody>
      </p:sp>
      <p:sp>
        <p:nvSpPr>
          <p:cNvPr id="16" name="Text 13"/>
          <p:cNvSpPr/>
          <p:nvPr/>
        </p:nvSpPr>
        <p:spPr>
          <a:xfrm>
            <a:off x="8039100" y="2570758"/>
            <a:ext cx="3178683" cy="7683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7F2EA"/>
                </a:solidFill>
                <a:latin typeface="Inter" pitchFamily="34" charset="0"/>
                <a:ea typeface="Inter" pitchFamily="34" charset="-122"/>
                <a:cs typeface="Inter" pitchFamily="34" charset="-120"/>
              </a:rPr>
              <a:t>Female customers churn most; Clothing is the category with the most churn</a:t>
            </a:r>
            <a:endParaRPr lang="en-US" sz="1500" dirty="0"/>
          </a:p>
        </p:txBody>
      </p:sp>
      <p:sp>
        <p:nvSpPr>
          <p:cNvPr id="17" name="Shape 14"/>
          <p:cNvSpPr/>
          <p:nvPr/>
        </p:nvSpPr>
        <p:spPr>
          <a:xfrm>
            <a:off x="7785100" y="3745508"/>
            <a:ext cx="3594100" cy="2208510"/>
          </a:xfrm>
          <a:prstGeom prst="roundRect">
            <a:avLst>
              <a:gd name="adj" fmla="val 5750"/>
            </a:avLst>
          </a:prstGeom>
          <a:solidFill>
            <a:srgbClr val="1A2A42"/>
          </a:solidFill>
          <a:ln/>
        </p:spPr>
        <p:txBody>
          <a:bodyPr/>
          <a:lstStyle/>
          <a:p>
            <a:endParaRPr lang="en-US"/>
          </a:p>
        </p:txBody>
      </p:sp>
      <p:sp>
        <p:nvSpPr>
          <p:cNvPr id="18" name="Shape 15"/>
          <p:cNvSpPr/>
          <p:nvPr/>
        </p:nvSpPr>
        <p:spPr>
          <a:xfrm>
            <a:off x="7785100" y="3745508"/>
            <a:ext cx="3594100" cy="2208510"/>
          </a:xfrm>
          <a:custGeom>
            <a:avLst/>
            <a:gdLst/>
            <a:ahLst/>
            <a:cxnLst/>
            <a:rect l="l" t="t" r="r" b="b"/>
            <a:pathLst>
              <a:path w="3594100" h="2208510">
                <a:moveTo>
                  <a:pt x="0" y="127000"/>
                </a:moveTo>
                <a:lnTo>
                  <a:pt x="0" y="127000"/>
                </a:lnTo>
                <a:arcTo wR="127000" hR="127000" stAng="10800000" swAng="5400000"/>
                <a:lnTo>
                  <a:pt x="3467100" y="0"/>
                </a:lnTo>
                <a:arcTo wR="127000" hR="127000" stAng="16200000" swAng="5400000"/>
                <a:lnTo>
                  <a:pt x="3594100" y="127000"/>
                </a:lnTo>
                <a:arcTo wR="127000" hR="63500" stAng="0" swAng="-5400000"/>
                <a:lnTo>
                  <a:pt x="127000" y="63500"/>
                </a:lnTo>
                <a:arcTo wR="127000" hR="63500" stAng="16200000" swAng="-5400000"/>
                <a:close/>
              </a:path>
            </a:pathLst>
          </a:custGeom>
          <a:solidFill>
            <a:srgbClr val="F4B942"/>
          </a:solidFill>
          <a:ln/>
        </p:spPr>
        <p:txBody>
          <a:bodyPr/>
          <a:lstStyle/>
          <a:p>
            <a:endParaRPr lang="en-US"/>
          </a:p>
        </p:txBody>
      </p:sp>
      <p:sp>
        <p:nvSpPr>
          <p:cNvPr id="19" name="Text 16"/>
          <p:cNvSpPr/>
          <p:nvPr/>
        </p:nvSpPr>
        <p:spPr>
          <a:xfrm>
            <a:off x="8039100" y="4088408"/>
            <a:ext cx="3178683" cy="532110"/>
          </a:xfrm>
          <a:prstGeom prst="rect">
            <a:avLst/>
          </a:prstGeom>
          <a:noFill/>
          <a:ln/>
        </p:spPr>
        <p:txBody>
          <a:bodyPr wrap="square" lIns="0" tIns="0" rIns="0" bIns="0" rtlCol="0" anchor="t">
            <a:normAutofit/>
          </a:bodyPr>
          <a:lstStyle/>
          <a:p>
            <a:pPr marL="0" indent="0" algn="l">
              <a:lnSpc>
                <a:spcPts val="3990"/>
              </a:lnSpc>
              <a:buNone/>
            </a:pPr>
            <a:r>
              <a:rPr lang="en-US" sz="3800" b="1" dirty="0">
                <a:solidFill>
                  <a:srgbClr val="F4B942"/>
                </a:solidFill>
                <a:latin typeface="Playfair Display" pitchFamily="18" charset="0"/>
                <a:ea typeface="Playfair Display" pitchFamily="18" charset="-122"/>
                <a:cs typeface="Playfair Display" pitchFamily="18" charset="-120"/>
              </a:rPr>
              <a:t>~5 orders</a:t>
            </a:r>
            <a:endParaRPr lang="en-US" sz="3800" dirty="0"/>
          </a:p>
        </p:txBody>
      </p:sp>
      <p:sp>
        <p:nvSpPr>
          <p:cNvPr id="20" name="Text 17"/>
          <p:cNvSpPr/>
          <p:nvPr/>
        </p:nvSpPr>
        <p:spPr>
          <a:xfrm>
            <a:off x="8039100" y="4684018"/>
            <a:ext cx="3178683" cy="10160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7F2EA"/>
                </a:solidFill>
                <a:latin typeface="Inter" pitchFamily="34" charset="0"/>
                <a:ea typeface="Inter" pitchFamily="34" charset="-122"/>
                <a:cs typeface="Inter" pitchFamily="34" charset="-120"/>
              </a:rPr>
              <a:t>Both retained and churned customers average about 5, so frequency alone does not explain churn</a:t>
            </a:r>
            <a:endParaRPr lang="en-US" sz="1500" dirty="0"/>
          </a:p>
        </p:txBody>
      </p:sp>
      <p:sp>
        <p:nvSpPr>
          <p:cNvPr id="21" name="Text 1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Inter" pitchFamily="34" charset="0"/>
                <a:ea typeface="Inter" pitchFamily="34" charset="-122"/>
                <a:cs typeface="Inter" pitchFamily="34" charset="-120"/>
              </a:rPr>
              <a:t>Retail Sales Analytics · CHURN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0160000" y="0"/>
            <a:ext cx="2921000" cy="2921000"/>
          </a:xfrm>
          <a:prstGeom prst="roundRect">
            <a:avLst>
              <a:gd name="adj" fmla="val 50000"/>
            </a:avLst>
          </a:prstGeom>
          <a:solidFill>
            <a:srgbClr val="FF6B4A">
              <a:alpha val="20000"/>
            </a:srgbClr>
          </a:solidFill>
          <a:ln/>
        </p:spPr>
        <p:txBody>
          <a:bodyPr/>
          <a:lstStyle/>
          <a:p>
            <a:endParaRPr lang="en-US"/>
          </a:p>
        </p:txBody>
      </p:sp>
      <p:sp>
        <p:nvSpPr>
          <p:cNvPr id="3" name="Text 1"/>
          <p:cNvSpPr/>
          <p:nvPr/>
        </p:nvSpPr>
        <p:spPr>
          <a:xfrm>
            <a:off x="812800" y="7112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50" dirty="0">
                <a:solidFill>
                  <a:srgbClr val="FF6B4A"/>
                </a:solidFill>
                <a:latin typeface="Inter" pitchFamily="34" charset="0"/>
                <a:ea typeface="Inter" pitchFamily="34" charset="-122"/>
                <a:cs typeface="Inter" pitchFamily="34" charset="-120"/>
              </a:rPr>
              <a:t>RECOMMENDATIONS 1-3</a:t>
            </a:r>
            <a:endParaRPr lang="en-US" sz="1300" dirty="0"/>
          </a:p>
        </p:txBody>
      </p:sp>
      <p:sp>
        <p:nvSpPr>
          <p:cNvPr id="4" name="Text 2"/>
          <p:cNvSpPr>
            <a:spLocks noGrp="1"/>
          </p:cNvSpPr>
          <p:nvPr>
            <p:ph type="title"/>
          </p:nvPr>
        </p:nvSpPr>
        <p:spPr>
          <a:xfrm>
            <a:off x="812800" y="103118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0F1B2D"/>
                </a:solidFill>
                <a:latin typeface="Playfair Display" pitchFamily="18" charset="0"/>
                <a:ea typeface="Playfair Display" pitchFamily="18" charset="-122"/>
                <a:cs typeface="Playfair Display" pitchFamily="18" charset="-120"/>
              </a:rPr>
              <a:t>Protect the revenue base</a:t>
            </a:r>
            <a:endParaRPr lang="en-US" sz="3400" dirty="0"/>
          </a:p>
        </p:txBody>
      </p:sp>
      <p:sp>
        <p:nvSpPr>
          <p:cNvPr id="5" name="Shape 3"/>
          <p:cNvSpPr/>
          <p:nvPr/>
        </p:nvSpPr>
        <p:spPr>
          <a:xfrm>
            <a:off x="812800" y="1785541"/>
            <a:ext cx="3386634" cy="3435747"/>
          </a:xfrm>
          <a:prstGeom prst="roundRect">
            <a:avLst>
              <a:gd name="adj" fmla="val 3750"/>
            </a:avLst>
          </a:prstGeom>
          <a:solidFill>
            <a:srgbClr val="FFFFFF"/>
          </a:solidFill>
          <a:ln/>
        </p:spPr>
        <p:txBody>
          <a:bodyPr/>
          <a:lstStyle/>
          <a:p>
            <a:endParaRPr lang="en-US"/>
          </a:p>
        </p:txBody>
      </p:sp>
      <p:sp>
        <p:nvSpPr>
          <p:cNvPr id="6" name="Shape 4"/>
          <p:cNvSpPr/>
          <p:nvPr/>
        </p:nvSpPr>
        <p:spPr>
          <a:xfrm>
            <a:off x="812800" y="1785541"/>
            <a:ext cx="3386634" cy="3435747"/>
          </a:xfrm>
          <a:custGeom>
            <a:avLst/>
            <a:gdLst/>
            <a:ahLst/>
            <a:cxnLst/>
            <a:rect l="l" t="t" r="r" b="b"/>
            <a:pathLst>
              <a:path w="3386634" h="3435747">
                <a:moveTo>
                  <a:pt x="0" y="127000"/>
                </a:moveTo>
                <a:lnTo>
                  <a:pt x="0" y="127000"/>
                </a:lnTo>
                <a:arcTo wR="127000" hR="127000" stAng="10800000" swAng="5400000"/>
                <a:lnTo>
                  <a:pt x="3259634" y="0"/>
                </a:lnTo>
                <a:arcTo wR="127000" hR="127000" stAng="16200000" swAng="5400000"/>
                <a:lnTo>
                  <a:pt x="3386634" y="127000"/>
                </a:lnTo>
                <a:arcTo wR="127000" hR="63500" stAng="0" swAng="-5400000"/>
                <a:lnTo>
                  <a:pt x="127000" y="63500"/>
                </a:lnTo>
                <a:arcTo wR="127000" hR="63500" stAng="16200000" swAng="-5400000"/>
                <a:close/>
              </a:path>
            </a:pathLst>
          </a:custGeom>
          <a:solidFill>
            <a:srgbClr val="FF6B4A"/>
          </a:solidFill>
          <a:ln/>
        </p:spPr>
        <p:txBody>
          <a:bodyPr/>
          <a:lstStyle/>
          <a:p>
            <a:endParaRPr lang="en-US"/>
          </a:p>
        </p:txBody>
      </p:sp>
      <p:sp>
        <p:nvSpPr>
          <p:cNvPr id="7" name="Text 5"/>
          <p:cNvSpPr/>
          <p:nvPr/>
        </p:nvSpPr>
        <p:spPr>
          <a:xfrm>
            <a:off x="1066800" y="210304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FF6B4A"/>
          </a:solidFill>
          <a:ln/>
        </p:spPr>
        <p:txBody>
          <a:bodyPr wrap="square" lIns="0" tIns="0" rIns="0" bIns="0" rtlCol="0" anchor="ctr">
            <a:normAutofit/>
          </a:bodyPr>
          <a:lstStyle/>
          <a:p>
            <a:pPr marL="0" indent="0" algn="ctr">
              <a:lnSpc>
                <a:spcPts val="2380"/>
              </a:lnSpc>
              <a:buNone/>
            </a:pPr>
            <a:r>
              <a:rPr lang="en-US" sz="1700" b="1" dirty="0">
                <a:solidFill>
                  <a:srgbClr val="0F1B2D"/>
                </a:solidFill>
                <a:latin typeface="Playfair Display" pitchFamily="18" charset="0"/>
                <a:ea typeface="Playfair Display" pitchFamily="18" charset="-122"/>
                <a:cs typeface="Playfair Display" pitchFamily="18" charset="-120"/>
              </a:rPr>
              <a:t>1</a:t>
            </a:r>
            <a:endParaRPr lang="en-US" sz="1700" dirty="0"/>
          </a:p>
        </p:txBody>
      </p:sp>
      <p:sp>
        <p:nvSpPr>
          <p:cNvPr id="8" name="Text 6"/>
          <p:cNvSpPr/>
          <p:nvPr/>
        </p:nvSpPr>
        <p:spPr>
          <a:xfrm>
            <a:off x="1587500" y="2182118"/>
            <a:ext cx="2611934"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0F1B2D"/>
                </a:solidFill>
                <a:latin typeface="Playfair Display" pitchFamily="18" charset="0"/>
                <a:ea typeface="Playfair Display" pitchFamily="18" charset="-122"/>
                <a:cs typeface="Playfair Display" pitchFamily="18" charset="-120"/>
              </a:rPr>
              <a:t>Prioritize 55+ retention</a:t>
            </a:r>
            <a:endParaRPr lang="en-US" sz="1700" dirty="0"/>
          </a:p>
        </p:txBody>
      </p:sp>
      <p:sp>
        <p:nvSpPr>
          <p:cNvPr id="9" name="Text 7"/>
          <p:cNvSpPr/>
          <p:nvPr/>
        </p:nvSpPr>
        <p:spPr>
          <a:xfrm>
            <a:off x="1066800" y="2623741"/>
            <a:ext cx="2964993" cy="2368947"/>
          </a:xfrm>
          <a:prstGeom prst="rect">
            <a:avLst/>
          </a:prstGeom>
          <a:noFill/>
          <a:ln/>
        </p:spPr>
        <p:txBody>
          <a:bodyPr wrap="square" lIns="0" tIns="0" rIns="0" bIns="0" rtlCol="0" anchor="t">
            <a:normAutofit/>
          </a:bodyPr>
          <a:lstStyle/>
          <a:p>
            <a:pPr marL="0" indent="0" algn="l">
              <a:lnSpc>
                <a:spcPts val="1846"/>
              </a:lnSpc>
              <a:buNone/>
            </a:pPr>
            <a:r>
              <a:rPr lang="en-US" sz="1300" dirty="0">
                <a:solidFill>
                  <a:srgbClr val="0F1B2D"/>
                </a:solidFill>
                <a:latin typeface="Inter" pitchFamily="34" charset="0"/>
                <a:ea typeface="Inter" pitchFamily="34" charset="-122"/>
                <a:cs typeface="Inter" pitchFamily="34" charset="-120"/>
              </a:rPr>
              <a:t>This segment is both the biggest and the most valuable, so a small loss here costs more than anywhere else. Build a dedicated program: priority service, early access to Home products, simple reorder journeys and a proactive win-back contact when activity slows. Track 55+ churn and revenue per customer monthly.</a:t>
            </a:r>
            <a:endParaRPr lang="en-US" sz="1300" dirty="0"/>
          </a:p>
        </p:txBody>
      </p:sp>
      <p:sp>
        <p:nvSpPr>
          <p:cNvPr id="10" name="Shape 8"/>
          <p:cNvSpPr/>
          <p:nvPr/>
        </p:nvSpPr>
        <p:spPr>
          <a:xfrm>
            <a:off x="4402634" y="1785541"/>
            <a:ext cx="3386733" cy="3435747"/>
          </a:xfrm>
          <a:prstGeom prst="roundRect">
            <a:avLst>
              <a:gd name="adj" fmla="val 3750"/>
            </a:avLst>
          </a:prstGeom>
          <a:solidFill>
            <a:srgbClr val="FFFFFF"/>
          </a:solidFill>
          <a:ln/>
        </p:spPr>
        <p:txBody>
          <a:bodyPr/>
          <a:lstStyle/>
          <a:p>
            <a:endParaRPr lang="en-US"/>
          </a:p>
        </p:txBody>
      </p:sp>
      <p:sp>
        <p:nvSpPr>
          <p:cNvPr id="11" name="Shape 9"/>
          <p:cNvSpPr/>
          <p:nvPr/>
        </p:nvSpPr>
        <p:spPr>
          <a:xfrm>
            <a:off x="4402634" y="1785541"/>
            <a:ext cx="3386733" cy="3435747"/>
          </a:xfrm>
          <a:custGeom>
            <a:avLst/>
            <a:gdLst/>
            <a:ahLst/>
            <a:cxnLst/>
            <a:rect l="l" t="t" r="r" b="b"/>
            <a:pathLst>
              <a:path w="3386733" h="3435747">
                <a:moveTo>
                  <a:pt x="0" y="127000"/>
                </a:moveTo>
                <a:lnTo>
                  <a:pt x="0" y="127000"/>
                </a:lnTo>
                <a:arcTo wR="127000" hR="127000" stAng="10800000" swAng="5400000"/>
                <a:lnTo>
                  <a:pt x="3259733" y="0"/>
                </a:lnTo>
                <a:arcTo wR="127000" hR="127000" stAng="16200000" swAng="5400000"/>
                <a:lnTo>
                  <a:pt x="3386733" y="127000"/>
                </a:lnTo>
                <a:arcTo wR="127000" hR="63500" stAng="0" swAng="-5400000"/>
                <a:lnTo>
                  <a:pt x="127000" y="63500"/>
                </a:lnTo>
                <a:arcTo wR="127000" hR="63500" stAng="16200000" swAng="-5400000"/>
                <a:close/>
              </a:path>
            </a:pathLst>
          </a:custGeom>
          <a:solidFill>
            <a:srgbClr val="1FB5A6"/>
          </a:solidFill>
          <a:ln/>
        </p:spPr>
        <p:txBody>
          <a:bodyPr/>
          <a:lstStyle/>
          <a:p>
            <a:endParaRPr lang="en-US"/>
          </a:p>
        </p:txBody>
      </p:sp>
      <p:sp>
        <p:nvSpPr>
          <p:cNvPr id="12" name="Text 10"/>
          <p:cNvSpPr/>
          <p:nvPr/>
        </p:nvSpPr>
        <p:spPr>
          <a:xfrm>
            <a:off x="4656634" y="2148086"/>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1FB5A6"/>
          </a:solidFill>
          <a:ln/>
        </p:spPr>
        <p:txBody>
          <a:bodyPr wrap="square" lIns="0" tIns="0" rIns="0" bIns="0" rtlCol="0" anchor="ctr">
            <a:normAutofit/>
          </a:bodyPr>
          <a:lstStyle/>
          <a:p>
            <a:pPr marL="0" indent="0" algn="ctr">
              <a:lnSpc>
                <a:spcPts val="2380"/>
              </a:lnSpc>
              <a:buNone/>
            </a:pPr>
            <a:r>
              <a:rPr lang="en-US" sz="1700" b="1" dirty="0">
                <a:solidFill>
                  <a:srgbClr val="0F1B2D"/>
                </a:solidFill>
                <a:latin typeface="Playfair Display" pitchFamily="18" charset="0"/>
                <a:ea typeface="Playfair Display" pitchFamily="18" charset="-122"/>
                <a:cs typeface="Playfair Display" pitchFamily="18" charset="-120"/>
              </a:rPr>
              <a:t>2</a:t>
            </a:r>
            <a:endParaRPr lang="en-US" sz="1700" dirty="0"/>
          </a:p>
        </p:txBody>
      </p:sp>
      <p:sp>
        <p:nvSpPr>
          <p:cNvPr id="13" name="Text 11"/>
          <p:cNvSpPr/>
          <p:nvPr/>
        </p:nvSpPr>
        <p:spPr>
          <a:xfrm>
            <a:off x="5177334" y="2103041"/>
            <a:ext cx="2428774" cy="521891"/>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0F1B2D"/>
                </a:solidFill>
                <a:latin typeface="Playfair Display" pitchFamily="18" charset="0"/>
                <a:ea typeface="Playfair Display" pitchFamily="18" charset="-122"/>
                <a:cs typeface="Playfair Display" pitchFamily="18" charset="-120"/>
              </a:rPr>
              <a:t>Fix the Clothing churn gap</a:t>
            </a:r>
            <a:endParaRPr lang="en-US" sz="1700" dirty="0"/>
          </a:p>
        </p:txBody>
      </p:sp>
      <p:sp>
        <p:nvSpPr>
          <p:cNvPr id="14" name="Text 12"/>
          <p:cNvSpPr/>
          <p:nvPr/>
        </p:nvSpPr>
        <p:spPr>
          <a:xfrm>
            <a:off x="4656634" y="2713831"/>
            <a:ext cx="2965095" cy="1900238"/>
          </a:xfrm>
          <a:prstGeom prst="rect">
            <a:avLst/>
          </a:prstGeom>
          <a:noFill/>
          <a:ln/>
        </p:spPr>
        <p:txBody>
          <a:bodyPr wrap="square" lIns="0" tIns="0" rIns="0" bIns="0" rtlCol="0" anchor="t">
            <a:normAutofit/>
          </a:bodyPr>
          <a:lstStyle/>
          <a:p>
            <a:pPr marL="0" indent="0" algn="l">
              <a:lnSpc>
                <a:spcPts val="1846"/>
              </a:lnSpc>
              <a:buNone/>
            </a:pPr>
            <a:r>
              <a:rPr lang="en-US" sz="1300" dirty="0">
                <a:solidFill>
                  <a:srgbClr val="0F1B2D"/>
                </a:solidFill>
                <a:latin typeface="Inter" pitchFamily="34" charset="0"/>
                <a:ea typeface="Inter" pitchFamily="34" charset="-122"/>
                <a:cs typeface="Inter" pitchFamily="34" charset="-120"/>
              </a:rPr>
              <a:t>Clothing is the fastest-growing and highest-volume category, yet its customers churn the most. Growth that leaks is expensive. Survey recent Clothing churners, review sizing, returns and delivery experience, and add post-purchase follow-ups so new buyers become repeat buyers.</a:t>
            </a:r>
            <a:endParaRPr lang="en-US" sz="1300" dirty="0"/>
          </a:p>
        </p:txBody>
      </p:sp>
      <p:sp>
        <p:nvSpPr>
          <p:cNvPr id="15" name="Shape 13"/>
          <p:cNvSpPr/>
          <p:nvPr/>
        </p:nvSpPr>
        <p:spPr>
          <a:xfrm>
            <a:off x="7992566" y="1785541"/>
            <a:ext cx="3386634" cy="3435747"/>
          </a:xfrm>
          <a:prstGeom prst="roundRect">
            <a:avLst>
              <a:gd name="adj" fmla="val 3750"/>
            </a:avLst>
          </a:prstGeom>
          <a:solidFill>
            <a:srgbClr val="FFFFFF"/>
          </a:solidFill>
          <a:ln/>
        </p:spPr>
        <p:txBody>
          <a:bodyPr/>
          <a:lstStyle/>
          <a:p>
            <a:endParaRPr lang="en-US"/>
          </a:p>
        </p:txBody>
      </p:sp>
      <p:sp>
        <p:nvSpPr>
          <p:cNvPr id="16" name="Shape 14"/>
          <p:cNvSpPr/>
          <p:nvPr/>
        </p:nvSpPr>
        <p:spPr>
          <a:xfrm>
            <a:off x="7992566" y="1785541"/>
            <a:ext cx="3386634" cy="3435747"/>
          </a:xfrm>
          <a:custGeom>
            <a:avLst/>
            <a:gdLst/>
            <a:ahLst/>
            <a:cxnLst/>
            <a:rect l="l" t="t" r="r" b="b"/>
            <a:pathLst>
              <a:path w="3386634" h="3435747">
                <a:moveTo>
                  <a:pt x="0" y="127000"/>
                </a:moveTo>
                <a:lnTo>
                  <a:pt x="0" y="127000"/>
                </a:lnTo>
                <a:arcTo wR="127000" hR="127000" stAng="10800000" swAng="5400000"/>
                <a:lnTo>
                  <a:pt x="3259634" y="0"/>
                </a:lnTo>
                <a:arcTo wR="127000" hR="127000" stAng="16200000" swAng="5400000"/>
                <a:lnTo>
                  <a:pt x="3386634" y="127000"/>
                </a:lnTo>
                <a:arcTo wR="127000" hR="63500" stAng="0" swAng="-5400000"/>
                <a:lnTo>
                  <a:pt x="127000" y="63500"/>
                </a:lnTo>
                <a:arcTo wR="127000" hR="63500" stAng="16200000" swAng="-5400000"/>
                <a:close/>
              </a:path>
            </a:pathLst>
          </a:custGeom>
          <a:solidFill>
            <a:srgbClr val="F4B942"/>
          </a:solidFill>
          <a:ln/>
        </p:spPr>
        <p:txBody>
          <a:bodyPr/>
          <a:lstStyle/>
          <a:p>
            <a:endParaRPr lang="en-US"/>
          </a:p>
        </p:txBody>
      </p:sp>
      <p:sp>
        <p:nvSpPr>
          <p:cNvPr id="17" name="Text 15"/>
          <p:cNvSpPr/>
          <p:nvPr/>
        </p:nvSpPr>
        <p:spPr>
          <a:xfrm>
            <a:off x="8246566" y="2148086"/>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F4B942"/>
          </a:solidFill>
          <a:ln/>
        </p:spPr>
        <p:txBody>
          <a:bodyPr wrap="square" lIns="0" tIns="0" rIns="0" bIns="0" rtlCol="0" anchor="ctr">
            <a:normAutofit/>
          </a:bodyPr>
          <a:lstStyle/>
          <a:p>
            <a:pPr marL="0" indent="0" algn="ctr">
              <a:lnSpc>
                <a:spcPts val="2380"/>
              </a:lnSpc>
              <a:buNone/>
            </a:pPr>
            <a:r>
              <a:rPr lang="en-US" sz="1700" b="1" dirty="0">
                <a:solidFill>
                  <a:srgbClr val="0F1B2D"/>
                </a:solidFill>
                <a:latin typeface="Playfair Display" pitchFamily="18" charset="0"/>
                <a:ea typeface="Playfair Display" pitchFamily="18" charset="-122"/>
                <a:cs typeface="Playfair Display" pitchFamily="18" charset="-120"/>
              </a:rPr>
              <a:t>3</a:t>
            </a:r>
            <a:endParaRPr lang="en-US" sz="1700" dirty="0"/>
          </a:p>
        </p:txBody>
      </p:sp>
      <p:sp>
        <p:nvSpPr>
          <p:cNvPr id="18" name="Text 16"/>
          <p:cNvSpPr/>
          <p:nvPr/>
        </p:nvSpPr>
        <p:spPr>
          <a:xfrm>
            <a:off x="8767266" y="2103041"/>
            <a:ext cx="2428672" cy="521891"/>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0F1B2D"/>
                </a:solidFill>
                <a:latin typeface="Playfair Display" pitchFamily="18" charset="0"/>
                <a:ea typeface="Playfair Display" pitchFamily="18" charset="-122"/>
                <a:cs typeface="Playfair Display" pitchFamily="18" charset="-120"/>
              </a:rPr>
              <a:t>Treat churn as behavior</a:t>
            </a:r>
            <a:endParaRPr lang="en-US" sz="1700" dirty="0"/>
          </a:p>
        </p:txBody>
      </p:sp>
      <p:sp>
        <p:nvSpPr>
          <p:cNvPr id="19" name="Text 17"/>
          <p:cNvSpPr/>
          <p:nvPr/>
        </p:nvSpPr>
        <p:spPr>
          <a:xfrm>
            <a:off x="8246566" y="2713831"/>
            <a:ext cx="2964993" cy="1665883"/>
          </a:xfrm>
          <a:prstGeom prst="rect">
            <a:avLst/>
          </a:prstGeom>
          <a:noFill/>
          <a:ln/>
        </p:spPr>
        <p:txBody>
          <a:bodyPr wrap="square" lIns="0" tIns="0" rIns="0" bIns="0" rtlCol="0" anchor="t">
            <a:normAutofit/>
          </a:bodyPr>
          <a:lstStyle/>
          <a:p>
            <a:pPr marL="0" indent="0" algn="l">
              <a:lnSpc>
                <a:spcPts val="1846"/>
              </a:lnSpc>
              <a:buNone/>
            </a:pPr>
            <a:r>
              <a:rPr lang="en-US" sz="1300" dirty="0">
                <a:solidFill>
                  <a:srgbClr val="0F1B2D"/>
                </a:solidFill>
                <a:latin typeface="Inter" pitchFamily="34" charset="0"/>
                <a:ea typeface="Inter" pitchFamily="34" charset="-122"/>
                <a:cs typeface="Inter" pitchFamily="34" charset="-120"/>
              </a:rPr>
              <a:t>Equal order counts mean frequency is not the signal. Look at recency, basket mix, discount use, returns and support contacts instead. Use these to define at-risk triggers, then test a retention offer against a holdout group to prove it works.</a:t>
            </a:r>
            <a:endParaRPr lang="en-US" sz="1300" dirty="0"/>
          </a:p>
        </p:txBody>
      </p:sp>
      <p:sp>
        <p:nvSpPr>
          <p:cNvPr id="20" name="Text 1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Inter" pitchFamily="34" charset="0"/>
                <a:ea typeface="Inter" pitchFamily="34" charset="-122"/>
                <a:cs typeface="Inter" pitchFamily="34" charset="-120"/>
              </a:rPr>
              <a:t>Retail Sales Analytics · REC1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4953000"/>
            <a:ext cx="3048000" cy="3048000"/>
          </a:xfrm>
          <a:prstGeom prst="roundRect">
            <a:avLst>
              <a:gd name="adj" fmla="val 50000"/>
            </a:avLst>
          </a:prstGeom>
          <a:solidFill>
            <a:srgbClr val="1FB5A6">
              <a:alpha val="15000"/>
            </a:srgbClr>
          </a:solidFill>
          <a:ln/>
        </p:spPr>
        <p:txBody>
          <a:bodyPr/>
          <a:lstStyle/>
          <a:p>
            <a:endParaRPr lang="en-US"/>
          </a:p>
        </p:txBody>
      </p:sp>
      <p:sp>
        <p:nvSpPr>
          <p:cNvPr id="3" name="Text 1"/>
          <p:cNvSpPr/>
          <p:nvPr/>
        </p:nvSpPr>
        <p:spPr>
          <a:xfrm>
            <a:off x="812800" y="7112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50" dirty="0">
                <a:solidFill>
                  <a:srgbClr val="FF6B4A"/>
                </a:solidFill>
                <a:latin typeface="Inter" pitchFamily="34" charset="0"/>
                <a:ea typeface="Inter" pitchFamily="34" charset="-122"/>
                <a:cs typeface="Inter" pitchFamily="34" charset="-120"/>
              </a:rPr>
              <a:t>RECOMMENDATIONS 4-6</a:t>
            </a:r>
            <a:endParaRPr lang="en-US" sz="1300" dirty="0"/>
          </a:p>
        </p:txBody>
      </p:sp>
      <p:sp>
        <p:nvSpPr>
          <p:cNvPr id="4" name="Text 2"/>
          <p:cNvSpPr>
            <a:spLocks noGrp="1"/>
          </p:cNvSpPr>
          <p:nvPr>
            <p:ph type="title"/>
          </p:nvPr>
        </p:nvSpPr>
        <p:spPr>
          <a:xfrm>
            <a:off x="812800" y="103118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F7F2EA"/>
                </a:solidFill>
                <a:latin typeface="Playfair Display" pitchFamily="18" charset="0"/>
                <a:ea typeface="Playfair Display" pitchFamily="18" charset="-122"/>
                <a:cs typeface="Playfair Display" pitchFamily="18" charset="-120"/>
              </a:rPr>
              <a:t>Grow where momentum exists</a:t>
            </a:r>
            <a:endParaRPr lang="en-US" sz="3400" dirty="0"/>
          </a:p>
        </p:txBody>
      </p:sp>
      <p:sp>
        <p:nvSpPr>
          <p:cNvPr id="5" name="Shape 3"/>
          <p:cNvSpPr/>
          <p:nvPr/>
        </p:nvSpPr>
        <p:spPr>
          <a:xfrm>
            <a:off x="812800" y="1785541"/>
            <a:ext cx="3386634" cy="2822773"/>
          </a:xfrm>
          <a:prstGeom prst="roundRect">
            <a:avLst>
              <a:gd name="adj" fmla="val 4499"/>
            </a:avLst>
          </a:prstGeom>
          <a:solidFill>
            <a:srgbClr val="1A2A42"/>
          </a:solidFill>
          <a:ln/>
        </p:spPr>
        <p:txBody>
          <a:bodyPr/>
          <a:lstStyle/>
          <a:p>
            <a:endParaRPr lang="en-US"/>
          </a:p>
        </p:txBody>
      </p:sp>
      <p:sp>
        <p:nvSpPr>
          <p:cNvPr id="6" name="Shape 4"/>
          <p:cNvSpPr/>
          <p:nvPr/>
        </p:nvSpPr>
        <p:spPr>
          <a:xfrm>
            <a:off x="812800" y="1785541"/>
            <a:ext cx="3386634" cy="2822773"/>
          </a:xfrm>
          <a:custGeom>
            <a:avLst/>
            <a:gdLst/>
            <a:ahLst/>
            <a:cxnLst/>
            <a:rect l="l" t="t" r="r" b="b"/>
            <a:pathLst>
              <a:path w="3386634" h="2822773">
                <a:moveTo>
                  <a:pt x="0" y="127000"/>
                </a:moveTo>
                <a:lnTo>
                  <a:pt x="0" y="127000"/>
                </a:lnTo>
                <a:arcTo wR="127000" hR="127000" stAng="10800000" swAng="5400000"/>
                <a:lnTo>
                  <a:pt x="3259634" y="0"/>
                </a:lnTo>
                <a:arcTo wR="127000" hR="127000" stAng="16200000" swAng="5400000"/>
                <a:lnTo>
                  <a:pt x="3386634" y="127000"/>
                </a:lnTo>
                <a:arcTo wR="127000" hR="63500" stAng="0" swAng="-5400000"/>
                <a:lnTo>
                  <a:pt x="127000" y="63500"/>
                </a:lnTo>
                <a:arcTo wR="127000" hR="63500" stAng="16200000" swAng="-5400000"/>
                <a:close/>
              </a:path>
            </a:pathLst>
          </a:custGeom>
          <a:solidFill>
            <a:srgbClr val="FF6B4A"/>
          </a:solidFill>
          <a:ln/>
        </p:spPr>
        <p:txBody>
          <a:bodyPr/>
          <a:lstStyle/>
          <a:p>
            <a:endParaRPr lang="en-US"/>
          </a:p>
        </p:txBody>
      </p:sp>
      <p:sp>
        <p:nvSpPr>
          <p:cNvPr id="7" name="Text 5"/>
          <p:cNvSpPr/>
          <p:nvPr/>
        </p:nvSpPr>
        <p:spPr>
          <a:xfrm>
            <a:off x="1066800" y="210304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FF6B4A"/>
          </a:solidFill>
          <a:ln/>
        </p:spPr>
        <p:txBody>
          <a:bodyPr wrap="square" lIns="0" tIns="0" rIns="0" bIns="0" rtlCol="0" anchor="ctr">
            <a:normAutofit/>
          </a:bodyPr>
          <a:lstStyle/>
          <a:p>
            <a:pPr marL="0" indent="0" algn="ctr">
              <a:lnSpc>
                <a:spcPts val="2380"/>
              </a:lnSpc>
              <a:buNone/>
            </a:pPr>
            <a:r>
              <a:rPr lang="en-US" sz="1700" b="1" dirty="0">
                <a:solidFill>
                  <a:srgbClr val="0F1B2D"/>
                </a:solidFill>
                <a:latin typeface="Playfair Display" pitchFamily="18" charset="0"/>
                <a:ea typeface="Playfair Display" pitchFamily="18" charset="-122"/>
                <a:cs typeface="Playfair Display" pitchFamily="18" charset="-120"/>
              </a:rPr>
              <a:t>4</a:t>
            </a:r>
            <a:endParaRPr lang="en-US" sz="1700" dirty="0"/>
          </a:p>
        </p:txBody>
      </p:sp>
      <p:sp>
        <p:nvSpPr>
          <p:cNvPr id="8" name="Text 6"/>
          <p:cNvSpPr/>
          <p:nvPr/>
        </p:nvSpPr>
        <p:spPr>
          <a:xfrm>
            <a:off x="1587500" y="2182118"/>
            <a:ext cx="1547693"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F7F2EA"/>
                </a:solidFill>
                <a:latin typeface="Playfair Display" pitchFamily="18" charset="0"/>
                <a:ea typeface="Playfair Display" pitchFamily="18" charset="-122"/>
                <a:cs typeface="Playfair Display" pitchFamily="18" charset="-120"/>
              </a:rPr>
              <a:t>Engage 18-25</a:t>
            </a:r>
            <a:endParaRPr lang="en-US" sz="1700" dirty="0"/>
          </a:p>
        </p:txBody>
      </p:sp>
      <p:sp>
        <p:nvSpPr>
          <p:cNvPr id="9" name="Text 7"/>
          <p:cNvSpPr/>
          <p:nvPr/>
        </p:nvSpPr>
        <p:spPr>
          <a:xfrm>
            <a:off x="1066800" y="2623741"/>
            <a:ext cx="2964993" cy="1665883"/>
          </a:xfrm>
          <a:prstGeom prst="rect">
            <a:avLst/>
          </a:prstGeom>
          <a:noFill/>
          <a:ln/>
        </p:spPr>
        <p:txBody>
          <a:bodyPr wrap="square" lIns="0" tIns="0" rIns="0" bIns="0" rtlCol="0" anchor="t">
            <a:normAutofit/>
          </a:bodyPr>
          <a:lstStyle/>
          <a:p>
            <a:pPr marL="0" indent="0" algn="l">
              <a:lnSpc>
                <a:spcPts val="1846"/>
              </a:lnSpc>
              <a:buNone/>
            </a:pPr>
            <a:r>
              <a:rPr lang="en-US" sz="1300" dirty="0">
                <a:solidFill>
                  <a:srgbClr val="F7F2EA"/>
                </a:solidFill>
                <a:latin typeface="Inter" pitchFamily="34" charset="0"/>
                <a:ea typeface="Inter" pitchFamily="34" charset="-122"/>
                <a:cs typeface="Inter" pitchFamily="34" charset="-120"/>
              </a:rPr>
              <a:t>This group has the highest churn at 20.69%. Test social-first campaigns, first-purchase offers, referral rewards and a fast mobile checkout. Measure second-purchase rate within 90 days as the key success metric.</a:t>
            </a:r>
            <a:endParaRPr lang="en-US" sz="1300" dirty="0"/>
          </a:p>
        </p:txBody>
      </p:sp>
      <p:sp>
        <p:nvSpPr>
          <p:cNvPr id="10" name="Shape 8"/>
          <p:cNvSpPr/>
          <p:nvPr/>
        </p:nvSpPr>
        <p:spPr>
          <a:xfrm>
            <a:off x="4402634" y="1785541"/>
            <a:ext cx="3386733" cy="2822773"/>
          </a:xfrm>
          <a:prstGeom prst="roundRect">
            <a:avLst>
              <a:gd name="adj" fmla="val 4499"/>
            </a:avLst>
          </a:prstGeom>
          <a:solidFill>
            <a:srgbClr val="1A2A42"/>
          </a:solidFill>
          <a:ln/>
        </p:spPr>
        <p:txBody>
          <a:bodyPr/>
          <a:lstStyle/>
          <a:p>
            <a:endParaRPr lang="en-US"/>
          </a:p>
        </p:txBody>
      </p:sp>
      <p:sp>
        <p:nvSpPr>
          <p:cNvPr id="11" name="Shape 9"/>
          <p:cNvSpPr/>
          <p:nvPr/>
        </p:nvSpPr>
        <p:spPr>
          <a:xfrm>
            <a:off x="4402634" y="1785541"/>
            <a:ext cx="3386733" cy="2822773"/>
          </a:xfrm>
          <a:custGeom>
            <a:avLst/>
            <a:gdLst/>
            <a:ahLst/>
            <a:cxnLst/>
            <a:rect l="l" t="t" r="r" b="b"/>
            <a:pathLst>
              <a:path w="3386733" h="2822773">
                <a:moveTo>
                  <a:pt x="0" y="127000"/>
                </a:moveTo>
                <a:lnTo>
                  <a:pt x="0" y="127000"/>
                </a:lnTo>
                <a:arcTo wR="127000" hR="127000" stAng="10800000" swAng="5400000"/>
                <a:lnTo>
                  <a:pt x="3259733" y="0"/>
                </a:lnTo>
                <a:arcTo wR="127000" hR="127000" stAng="16200000" swAng="5400000"/>
                <a:lnTo>
                  <a:pt x="3386733" y="127000"/>
                </a:lnTo>
                <a:arcTo wR="127000" hR="63500" stAng="0" swAng="-5400000"/>
                <a:lnTo>
                  <a:pt x="127000" y="63500"/>
                </a:lnTo>
                <a:arcTo wR="127000" hR="63500" stAng="16200000" swAng="-5400000"/>
                <a:close/>
              </a:path>
            </a:pathLst>
          </a:custGeom>
          <a:solidFill>
            <a:srgbClr val="1FB5A6"/>
          </a:solidFill>
          <a:ln/>
        </p:spPr>
        <p:txBody>
          <a:bodyPr/>
          <a:lstStyle/>
          <a:p>
            <a:endParaRPr lang="en-US"/>
          </a:p>
        </p:txBody>
      </p:sp>
      <p:sp>
        <p:nvSpPr>
          <p:cNvPr id="12" name="Text 10"/>
          <p:cNvSpPr/>
          <p:nvPr/>
        </p:nvSpPr>
        <p:spPr>
          <a:xfrm>
            <a:off x="4656634" y="2148086"/>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1FB5A6"/>
          </a:solidFill>
          <a:ln/>
        </p:spPr>
        <p:txBody>
          <a:bodyPr wrap="square" lIns="0" tIns="0" rIns="0" bIns="0" rtlCol="0" anchor="ctr">
            <a:normAutofit/>
          </a:bodyPr>
          <a:lstStyle/>
          <a:p>
            <a:pPr marL="0" indent="0" algn="ctr">
              <a:lnSpc>
                <a:spcPts val="2380"/>
              </a:lnSpc>
              <a:buNone/>
            </a:pPr>
            <a:r>
              <a:rPr lang="en-US" sz="1700" b="1" dirty="0">
                <a:solidFill>
                  <a:srgbClr val="0F1B2D"/>
                </a:solidFill>
                <a:latin typeface="Playfair Display" pitchFamily="18" charset="0"/>
                <a:ea typeface="Playfair Display" pitchFamily="18" charset="-122"/>
                <a:cs typeface="Playfair Display" pitchFamily="18" charset="-120"/>
              </a:rPr>
              <a:t>5</a:t>
            </a:r>
            <a:endParaRPr lang="en-US" sz="1700" dirty="0"/>
          </a:p>
        </p:txBody>
      </p:sp>
      <p:sp>
        <p:nvSpPr>
          <p:cNvPr id="13" name="Text 11"/>
          <p:cNvSpPr/>
          <p:nvPr/>
        </p:nvSpPr>
        <p:spPr>
          <a:xfrm>
            <a:off x="5177334" y="2103041"/>
            <a:ext cx="2428774" cy="521891"/>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F7F2EA"/>
                </a:solidFill>
                <a:latin typeface="Playfair Display" pitchFamily="18" charset="0"/>
                <a:ea typeface="Playfair Display" pitchFamily="18" charset="-122"/>
                <a:cs typeface="Playfair Display" pitchFamily="18" charset="-120"/>
              </a:rPr>
              <a:t>Invest in Clothing, with guardrails</a:t>
            </a:r>
            <a:endParaRPr lang="en-US" sz="1700" dirty="0"/>
          </a:p>
        </p:txBody>
      </p:sp>
      <p:sp>
        <p:nvSpPr>
          <p:cNvPr id="14" name="Text 12"/>
          <p:cNvSpPr/>
          <p:nvPr/>
        </p:nvSpPr>
        <p:spPr>
          <a:xfrm>
            <a:off x="4656634" y="2713831"/>
            <a:ext cx="2965095" cy="1665883"/>
          </a:xfrm>
          <a:prstGeom prst="rect">
            <a:avLst/>
          </a:prstGeom>
          <a:noFill/>
          <a:ln/>
        </p:spPr>
        <p:txBody>
          <a:bodyPr wrap="square" lIns="0" tIns="0" rIns="0" bIns="0" rtlCol="0" anchor="t">
            <a:normAutofit/>
          </a:bodyPr>
          <a:lstStyle/>
          <a:p>
            <a:pPr marL="0" indent="0" algn="l">
              <a:lnSpc>
                <a:spcPts val="1846"/>
              </a:lnSpc>
              <a:buNone/>
            </a:pPr>
            <a:r>
              <a:rPr lang="en-US" sz="1300" dirty="0">
                <a:solidFill>
                  <a:srgbClr val="F7F2EA"/>
                </a:solidFill>
                <a:latin typeface="Inter" pitchFamily="34" charset="0"/>
                <a:ea typeface="Inter" pitchFamily="34" charset="-122"/>
                <a:cs typeface="Inter" pitchFamily="34" charset="-120"/>
              </a:rPr>
              <a:t>Back the category with range depth, size availability and targeted marketing, but scale spend only as retention improves. Pair acquisition budget with the churn fixes so each new customer has a better chance of staying.</a:t>
            </a:r>
            <a:endParaRPr lang="en-US" sz="1300" dirty="0"/>
          </a:p>
        </p:txBody>
      </p:sp>
      <p:sp>
        <p:nvSpPr>
          <p:cNvPr id="15" name="Shape 13"/>
          <p:cNvSpPr/>
          <p:nvPr/>
        </p:nvSpPr>
        <p:spPr>
          <a:xfrm>
            <a:off x="7992566" y="1785541"/>
            <a:ext cx="3386634" cy="2822773"/>
          </a:xfrm>
          <a:prstGeom prst="roundRect">
            <a:avLst>
              <a:gd name="adj" fmla="val 4499"/>
            </a:avLst>
          </a:prstGeom>
          <a:solidFill>
            <a:srgbClr val="1A2A42"/>
          </a:solidFill>
          <a:ln/>
        </p:spPr>
        <p:txBody>
          <a:bodyPr/>
          <a:lstStyle/>
          <a:p>
            <a:endParaRPr lang="en-US"/>
          </a:p>
        </p:txBody>
      </p:sp>
      <p:sp>
        <p:nvSpPr>
          <p:cNvPr id="16" name="Shape 14"/>
          <p:cNvSpPr/>
          <p:nvPr/>
        </p:nvSpPr>
        <p:spPr>
          <a:xfrm>
            <a:off x="7992566" y="1785541"/>
            <a:ext cx="3386634" cy="2822773"/>
          </a:xfrm>
          <a:custGeom>
            <a:avLst/>
            <a:gdLst/>
            <a:ahLst/>
            <a:cxnLst/>
            <a:rect l="l" t="t" r="r" b="b"/>
            <a:pathLst>
              <a:path w="3386634" h="2822773">
                <a:moveTo>
                  <a:pt x="0" y="127000"/>
                </a:moveTo>
                <a:lnTo>
                  <a:pt x="0" y="127000"/>
                </a:lnTo>
                <a:arcTo wR="127000" hR="127000" stAng="10800000" swAng="5400000"/>
                <a:lnTo>
                  <a:pt x="3259634" y="0"/>
                </a:lnTo>
                <a:arcTo wR="127000" hR="127000" stAng="16200000" swAng="5400000"/>
                <a:lnTo>
                  <a:pt x="3386634" y="127000"/>
                </a:lnTo>
                <a:arcTo wR="127000" hR="63500" stAng="0" swAng="-5400000"/>
                <a:lnTo>
                  <a:pt x="127000" y="63500"/>
                </a:lnTo>
                <a:arcTo wR="127000" hR="63500" stAng="16200000" swAng="-5400000"/>
                <a:close/>
              </a:path>
            </a:pathLst>
          </a:custGeom>
          <a:solidFill>
            <a:srgbClr val="F4B942"/>
          </a:solidFill>
          <a:ln/>
        </p:spPr>
        <p:txBody>
          <a:bodyPr/>
          <a:lstStyle/>
          <a:p>
            <a:endParaRPr lang="en-US"/>
          </a:p>
        </p:txBody>
      </p:sp>
      <p:sp>
        <p:nvSpPr>
          <p:cNvPr id="17" name="Text 15"/>
          <p:cNvSpPr/>
          <p:nvPr/>
        </p:nvSpPr>
        <p:spPr>
          <a:xfrm>
            <a:off x="8246566" y="2148086"/>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F4B942"/>
          </a:solidFill>
          <a:ln/>
        </p:spPr>
        <p:txBody>
          <a:bodyPr wrap="square" lIns="0" tIns="0" rIns="0" bIns="0" rtlCol="0" anchor="ctr">
            <a:normAutofit/>
          </a:bodyPr>
          <a:lstStyle/>
          <a:p>
            <a:pPr marL="0" indent="0" algn="ctr">
              <a:lnSpc>
                <a:spcPts val="2380"/>
              </a:lnSpc>
              <a:buNone/>
            </a:pPr>
            <a:r>
              <a:rPr lang="en-US" sz="1700" b="1" dirty="0">
                <a:solidFill>
                  <a:srgbClr val="0F1B2D"/>
                </a:solidFill>
                <a:latin typeface="Playfair Display" pitchFamily="18" charset="0"/>
                <a:ea typeface="Playfair Display" pitchFamily="18" charset="-122"/>
                <a:cs typeface="Playfair Display" pitchFamily="18" charset="-120"/>
              </a:rPr>
              <a:t>6</a:t>
            </a:r>
            <a:endParaRPr lang="en-US" sz="1700" dirty="0"/>
          </a:p>
        </p:txBody>
      </p:sp>
      <p:sp>
        <p:nvSpPr>
          <p:cNvPr id="18" name="Text 16"/>
          <p:cNvSpPr/>
          <p:nvPr/>
        </p:nvSpPr>
        <p:spPr>
          <a:xfrm>
            <a:off x="8767266" y="2103041"/>
            <a:ext cx="2428672" cy="521891"/>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F7F2EA"/>
                </a:solidFill>
                <a:latin typeface="Playfair Display" pitchFamily="18" charset="0"/>
                <a:ea typeface="Playfair Display" pitchFamily="18" charset="-122"/>
                <a:cs typeface="Playfair Display" pitchFamily="18" charset="-120"/>
              </a:rPr>
              <a:t>Plan the year around August</a:t>
            </a:r>
            <a:endParaRPr lang="en-US" sz="1700" dirty="0"/>
          </a:p>
        </p:txBody>
      </p:sp>
      <p:sp>
        <p:nvSpPr>
          <p:cNvPr id="19" name="Text 17"/>
          <p:cNvSpPr/>
          <p:nvPr/>
        </p:nvSpPr>
        <p:spPr>
          <a:xfrm>
            <a:off x="8246566" y="2713831"/>
            <a:ext cx="2964993" cy="1665883"/>
          </a:xfrm>
          <a:prstGeom prst="rect">
            <a:avLst/>
          </a:prstGeom>
          <a:noFill/>
          <a:ln/>
        </p:spPr>
        <p:txBody>
          <a:bodyPr wrap="square" lIns="0" tIns="0" rIns="0" bIns="0" rtlCol="0" anchor="t">
            <a:normAutofit/>
          </a:bodyPr>
          <a:lstStyle/>
          <a:p>
            <a:pPr marL="0" indent="0" algn="l">
              <a:lnSpc>
                <a:spcPts val="1846"/>
              </a:lnSpc>
              <a:buNone/>
            </a:pPr>
            <a:r>
              <a:rPr lang="en-US" sz="1300" dirty="0">
                <a:solidFill>
                  <a:srgbClr val="F7F2EA"/>
                </a:solidFill>
                <a:latin typeface="Inter" pitchFamily="34" charset="0"/>
                <a:ea typeface="Inter" pitchFamily="34" charset="-122"/>
                <a:cs typeface="Inter" pitchFamily="34" charset="-120"/>
              </a:rPr>
              <a:t>August is the strongest month, so build stock and campaigns ahead of it. Secure supplier capacity in spring, launch teasers in July, and staff service and fulfilment for the peak. Study 2020 as the benchmark year.</a:t>
            </a:r>
            <a:endParaRPr lang="en-US" sz="1300" dirty="0"/>
          </a:p>
        </p:txBody>
      </p:sp>
      <p:sp>
        <p:nvSpPr>
          <p:cNvPr id="20" name="Text 1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Inter" pitchFamily="34" charset="0"/>
                <a:ea typeface="Inter" pitchFamily="34" charset="-122"/>
                <a:cs typeface="Inter" pitchFamily="34" charset="-120"/>
              </a:rPr>
              <a:t>Retail Sales Analytics · REC2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10160000" y="0"/>
            <a:ext cx="2921000" cy="2921000"/>
          </a:xfrm>
          <a:prstGeom prst="roundRect">
            <a:avLst>
              <a:gd name="adj" fmla="val 50000"/>
            </a:avLst>
          </a:prstGeom>
          <a:solidFill>
            <a:srgbClr val="1FB5A6">
              <a:alpha val="20000"/>
            </a:srgbClr>
          </a:solidFill>
          <a:ln/>
        </p:spPr>
        <p:txBody>
          <a:bodyPr/>
          <a:lstStyle/>
          <a:p>
            <a:endParaRPr lang="en-US"/>
          </a:p>
        </p:txBody>
      </p:sp>
      <p:sp>
        <p:nvSpPr>
          <p:cNvPr id="3" name="Text 1"/>
          <p:cNvSpPr/>
          <p:nvPr/>
        </p:nvSpPr>
        <p:spPr>
          <a:xfrm>
            <a:off x="812800" y="7112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50" dirty="0">
                <a:solidFill>
                  <a:srgbClr val="FF6B4A"/>
                </a:solidFill>
                <a:latin typeface="Inter" pitchFamily="34" charset="0"/>
                <a:ea typeface="Inter" pitchFamily="34" charset="-122"/>
                <a:cs typeface="Inter" pitchFamily="34" charset="-120"/>
              </a:rPr>
              <a:t>RECOMMENDATIONS 7-9</a:t>
            </a:r>
            <a:endParaRPr lang="en-US" sz="1300" dirty="0"/>
          </a:p>
        </p:txBody>
      </p:sp>
      <p:sp>
        <p:nvSpPr>
          <p:cNvPr id="4" name="Text 2"/>
          <p:cNvSpPr>
            <a:spLocks noGrp="1"/>
          </p:cNvSpPr>
          <p:nvPr>
            <p:ph type="title"/>
          </p:nvPr>
        </p:nvSpPr>
        <p:spPr>
          <a:xfrm>
            <a:off x="812800" y="103118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0F1B2D"/>
                </a:solidFill>
                <a:latin typeface="Playfair Display" pitchFamily="18" charset="0"/>
                <a:ea typeface="Playfair Display" pitchFamily="18" charset="-122"/>
                <a:cs typeface="Playfair Display" pitchFamily="18" charset="-120"/>
              </a:rPr>
              <a:t>Build durable systems</a:t>
            </a:r>
            <a:endParaRPr lang="en-US" sz="3400" dirty="0"/>
          </a:p>
        </p:txBody>
      </p:sp>
      <p:sp>
        <p:nvSpPr>
          <p:cNvPr id="5" name="Shape 3"/>
          <p:cNvSpPr/>
          <p:nvPr/>
        </p:nvSpPr>
        <p:spPr>
          <a:xfrm>
            <a:off x="812800" y="1785541"/>
            <a:ext cx="3386634" cy="2967038"/>
          </a:xfrm>
          <a:prstGeom prst="roundRect">
            <a:avLst>
              <a:gd name="adj" fmla="val 4280"/>
            </a:avLst>
          </a:prstGeom>
          <a:solidFill>
            <a:srgbClr val="FFFFFF"/>
          </a:solidFill>
          <a:ln/>
        </p:spPr>
        <p:txBody>
          <a:bodyPr/>
          <a:lstStyle/>
          <a:p>
            <a:endParaRPr lang="en-US"/>
          </a:p>
        </p:txBody>
      </p:sp>
      <p:sp>
        <p:nvSpPr>
          <p:cNvPr id="6" name="Shape 4"/>
          <p:cNvSpPr/>
          <p:nvPr/>
        </p:nvSpPr>
        <p:spPr>
          <a:xfrm>
            <a:off x="812800" y="1785541"/>
            <a:ext cx="3386634" cy="2967038"/>
          </a:xfrm>
          <a:custGeom>
            <a:avLst/>
            <a:gdLst/>
            <a:ahLst/>
            <a:cxnLst/>
            <a:rect l="l" t="t" r="r" b="b"/>
            <a:pathLst>
              <a:path w="3386634" h="2967038">
                <a:moveTo>
                  <a:pt x="0" y="127000"/>
                </a:moveTo>
                <a:lnTo>
                  <a:pt x="0" y="127000"/>
                </a:lnTo>
                <a:arcTo wR="127000" hR="127000" stAng="10800000" swAng="5400000"/>
                <a:lnTo>
                  <a:pt x="3259634" y="0"/>
                </a:lnTo>
                <a:arcTo wR="127000" hR="127000" stAng="16200000" swAng="5400000"/>
                <a:lnTo>
                  <a:pt x="3386634" y="127000"/>
                </a:lnTo>
                <a:arcTo wR="127000" hR="63500" stAng="0" swAng="-5400000"/>
                <a:lnTo>
                  <a:pt x="127000" y="63500"/>
                </a:lnTo>
                <a:arcTo wR="127000" hR="63500" stAng="16200000" swAng="-5400000"/>
                <a:close/>
              </a:path>
            </a:pathLst>
          </a:custGeom>
          <a:solidFill>
            <a:srgbClr val="1FB5A6"/>
          </a:solidFill>
          <a:ln/>
        </p:spPr>
        <p:txBody>
          <a:bodyPr/>
          <a:lstStyle/>
          <a:p>
            <a:endParaRPr lang="en-US"/>
          </a:p>
        </p:txBody>
      </p:sp>
      <p:sp>
        <p:nvSpPr>
          <p:cNvPr id="7" name="Text 5"/>
          <p:cNvSpPr/>
          <p:nvPr/>
        </p:nvSpPr>
        <p:spPr>
          <a:xfrm>
            <a:off x="1066800" y="210304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1FB5A6"/>
          </a:solidFill>
          <a:ln/>
        </p:spPr>
        <p:txBody>
          <a:bodyPr wrap="square" lIns="0" tIns="0" rIns="0" bIns="0" rtlCol="0" anchor="ctr">
            <a:normAutofit/>
          </a:bodyPr>
          <a:lstStyle/>
          <a:p>
            <a:pPr marL="0" indent="0" algn="ctr">
              <a:lnSpc>
                <a:spcPts val="2380"/>
              </a:lnSpc>
              <a:buNone/>
            </a:pPr>
            <a:r>
              <a:rPr lang="en-US" sz="1700" b="1" dirty="0">
                <a:solidFill>
                  <a:srgbClr val="0F1B2D"/>
                </a:solidFill>
                <a:latin typeface="Playfair Display" pitchFamily="18" charset="0"/>
                <a:ea typeface="Playfair Display" pitchFamily="18" charset="-122"/>
                <a:cs typeface="Playfair Display" pitchFamily="18" charset="-120"/>
              </a:rPr>
              <a:t>7</a:t>
            </a:r>
            <a:endParaRPr lang="en-US" sz="1700" dirty="0"/>
          </a:p>
        </p:txBody>
      </p:sp>
      <p:sp>
        <p:nvSpPr>
          <p:cNvPr id="8" name="Text 6"/>
          <p:cNvSpPr/>
          <p:nvPr/>
        </p:nvSpPr>
        <p:spPr>
          <a:xfrm>
            <a:off x="1587500" y="2182118"/>
            <a:ext cx="2611934"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0F1B2D"/>
                </a:solidFill>
                <a:latin typeface="Playfair Display" pitchFamily="18" charset="0"/>
                <a:ea typeface="Playfair Display" pitchFamily="18" charset="-122"/>
                <a:cs typeface="Playfair Display" pitchFamily="18" charset="-120"/>
              </a:rPr>
              <a:t>Predictive churn model</a:t>
            </a:r>
            <a:endParaRPr lang="en-US" sz="1700" dirty="0"/>
          </a:p>
        </p:txBody>
      </p:sp>
      <p:sp>
        <p:nvSpPr>
          <p:cNvPr id="9" name="Text 7"/>
          <p:cNvSpPr/>
          <p:nvPr/>
        </p:nvSpPr>
        <p:spPr>
          <a:xfrm>
            <a:off x="1066800" y="2623741"/>
            <a:ext cx="2964993" cy="1900238"/>
          </a:xfrm>
          <a:prstGeom prst="rect">
            <a:avLst/>
          </a:prstGeom>
          <a:noFill/>
          <a:ln/>
        </p:spPr>
        <p:txBody>
          <a:bodyPr wrap="square" lIns="0" tIns="0" rIns="0" bIns="0" rtlCol="0" anchor="t">
            <a:normAutofit/>
          </a:bodyPr>
          <a:lstStyle/>
          <a:p>
            <a:pPr marL="0" indent="0" algn="l">
              <a:lnSpc>
                <a:spcPts val="1846"/>
              </a:lnSpc>
              <a:buNone/>
            </a:pPr>
            <a:r>
              <a:rPr lang="en-US" sz="1300" dirty="0">
                <a:solidFill>
                  <a:srgbClr val="0F1B2D"/>
                </a:solidFill>
                <a:latin typeface="Inter" pitchFamily="34" charset="0"/>
                <a:ea typeface="Inter" pitchFamily="34" charset="-122"/>
                <a:cs typeface="Inter" pitchFamily="34" charset="-120"/>
              </a:rPr>
              <a:t>Use BigQuery and Python to score customers on churn risk with recency, category, age band, order value and engagement features. Refresh scores weekly and send the highest-risk, highest-value customers into retention campaigns first.</a:t>
            </a:r>
            <a:endParaRPr lang="en-US" sz="1300" dirty="0"/>
          </a:p>
        </p:txBody>
      </p:sp>
      <p:sp>
        <p:nvSpPr>
          <p:cNvPr id="10" name="Shape 8"/>
          <p:cNvSpPr/>
          <p:nvPr/>
        </p:nvSpPr>
        <p:spPr>
          <a:xfrm>
            <a:off x="4402634" y="1785541"/>
            <a:ext cx="3386733" cy="2967038"/>
          </a:xfrm>
          <a:prstGeom prst="roundRect">
            <a:avLst>
              <a:gd name="adj" fmla="val 4280"/>
            </a:avLst>
          </a:prstGeom>
          <a:solidFill>
            <a:srgbClr val="FFFFFF"/>
          </a:solidFill>
          <a:ln/>
        </p:spPr>
        <p:txBody>
          <a:bodyPr/>
          <a:lstStyle/>
          <a:p>
            <a:endParaRPr lang="en-US"/>
          </a:p>
        </p:txBody>
      </p:sp>
      <p:sp>
        <p:nvSpPr>
          <p:cNvPr id="11" name="Shape 9"/>
          <p:cNvSpPr/>
          <p:nvPr/>
        </p:nvSpPr>
        <p:spPr>
          <a:xfrm>
            <a:off x="4402634" y="1785541"/>
            <a:ext cx="3386733" cy="2967038"/>
          </a:xfrm>
          <a:custGeom>
            <a:avLst/>
            <a:gdLst/>
            <a:ahLst/>
            <a:cxnLst/>
            <a:rect l="l" t="t" r="r" b="b"/>
            <a:pathLst>
              <a:path w="3386733" h="2967038">
                <a:moveTo>
                  <a:pt x="0" y="127000"/>
                </a:moveTo>
                <a:lnTo>
                  <a:pt x="0" y="127000"/>
                </a:lnTo>
                <a:arcTo wR="127000" hR="127000" stAng="10800000" swAng="5400000"/>
                <a:lnTo>
                  <a:pt x="3259733" y="0"/>
                </a:lnTo>
                <a:arcTo wR="127000" hR="127000" stAng="16200000" swAng="5400000"/>
                <a:lnTo>
                  <a:pt x="3386733" y="127000"/>
                </a:lnTo>
                <a:arcTo wR="127000" hR="63500" stAng="0" swAng="-5400000"/>
                <a:lnTo>
                  <a:pt x="127000" y="63500"/>
                </a:lnTo>
                <a:arcTo wR="127000" hR="63500" stAng="16200000" swAng="-5400000"/>
                <a:close/>
              </a:path>
            </a:pathLst>
          </a:custGeom>
          <a:solidFill>
            <a:srgbClr val="F4B942"/>
          </a:solidFill>
          <a:ln/>
        </p:spPr>
        <p:txBody>
          <a:bodyPr/>
          <a:lstStyle/>
          <a:p>
            <a:endParaRPr lang="en-US"/>
          </a:p>
        </p:txBody>
      </p:sp>
      <p:sp>
        <p:nvSpPr>
          <p:cNvPr id="12" name="Text 10"/>
          <p:cNvSpPr/>
          <p:nvPr/>
        </p:nvSpPr>
        <p:spPr>
          <a:xfrm>
            <a:off x="4656634" y="210304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F4B942"/>
          </a:solidFill>
          <a:ln/>
        </p:spPr>
        <p:txBody>
          <a:bodyPr wrap="square" lIns="0" tIns="0" rIns="0" bIns="0" rtlCol="0" anchor="ctr">
            <a:normAutofit/>
          </a:bodyPr>
          <a:lstStyle/>
          <a:p>
            <a:pPr marL="0" indent="0" algn="ctr">
              <a:lnSpc>
                <a:spcPts val="2380"/>
              </a:lnSpc>
              <a:buNone/>
            </a:pPr>
            <a:r>
              <a:rPr lang="en-US" sz="1700" b="1" dirty="0">
                <a:solidFill>
                  <a:srgbClr val="0F1B2D"/>
                </a:solidFill>
                <a:latin typeface="Playfair Display" pitchFamily="18" charset="0"/>
                <a:ea typeface="Playfair Display" pitchFamily="18" charset="-122"/>
                <a:cs typeface="Playfair Display" pitchFamily="18" charset="-120"/>
              </a:rPr>
              <a:t>8</a:t>
            </a:r>
            <a:endParaRPr lang="en-US" sz="1700" dirty="0"/>
          </a:p>
        </p:txBody>
      </p:sp>
      <p:sp>
        <p:nvSpPr>
          <p:cNvPr id="13" name="Text 11"/>
          <p:cNvSpPr/>
          <p:nvPr/>
        </p:nvSpPr>
        <p:spPr>
          <a:xfrm>
            <a:off x="5177334" y="2182118"/>
            <a:ext cx="1978343"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0F1B2D"/>
                </a:solidFill>
                <a:latin typeface="Playfair Display" pitchFamily="18" charset="0"/>
                <a:ea typeface="Playfair Display" pitchFamily="18" charset="-122"/>
                <a:cs typeface="Playfair Display" pitchFamily="18" charset="-120"/>
              </a:rPr>
              <a:t>Loyalty program</a:t>
            </a:r>
            <a:endParaRPr lang="en-US" sz="1700" dirty="0"/>
          </a:p>
        </p:txBody>
      </p:sp>
      <p:sp>
        <p:nvSpPr>
          <p:cNvPr id="14" name="Text 12"/>
          <p:cNvSpPr/>
          <p:nvPr/>
        </p:nvSpPr>
        <p:spPr>
          <a:xfrm>
            <a:off x="4656634" y="2623741"/>
            <a:ext cx="2965095" cy="1665883"/>
          </a:xfrm>
          <a:prstGeom prst="rect">
            <a:avLst/>
          </a:prstGeom>
          <a:noFill/>
          <a:ln/>
        </p:spPr>
        <p:txBody>
          <a:bodyPr wrap="square" lIns="0" tIns="0" rIns="0" bIns="0" rtlCol="0" anchor="t">
            <a:normAutofit/>
          </a:bodyPr>
          <a:lstStyle/>
          <a:p>
            <a:pPr marL="0" indent="0" algn="l">
              <a:lnSpc>
                <a:spcPts val="1846"/>
              </a:lnSpc>
              <a:buNone/>
            </a:pPr>
            <a:r>
              <a:rPr lang="en-US" sz="1300" dirty="0">
                <a:solidFill>
                  <a:srgbClr val="0F1B2D"/>
                </a:solidFill>
                <a:latin typeface="Inter" pitchFamily="34" charset="0"/>
                <a:ea typeface="Inter" pitchFamily="34" charset="-122"/>
                <a:cs typeface="Inter" pitchFamily="34" charset="-120"/>
              </a:rPr>
              <a:t>Tier rewards by value so 55+ and high-spend customers feel recognized, while a low-barrier entry level draws in the 18-25 group. Compare retention and order value for members against a control group before wider rollout.</a:t>
            </a:r>
            <a:endParaRPr lang="en-US" sz="1300" dirty="0"/>
          </a:p>
        </p:txBody>
      </p:sp>
      <p:sp>
        <p:nvSpPr>
          <p:cNvPr id="15" name="Shape 13"/>
          <p:cNvSpPr/>
          <p:nvPr/>
        </p:nvSpPr>
        <p:spPr>
          <a:xfrm>
            <a:off x="7992566" y="1785541"/>
            <a:ext cx="3386634" cy="2967038"/>
          </a:xfrm>
          <a:prstGeom prst="roundRect">
            <a:avLst>
              <a:gd name="adj" fmla="val 4280"/>
            </a:avLst>
          </a:prstGeom>
          <a:solidFill>
            <a:srgbClr val="FFFFFF"/>
          </a:solidFill>
          <a:ln/>
        </p:spPr>
        <p:txBody>
          <a:bodyPr/>
          <a:lstStyle/>
          <a:p>
            <a:endParaRPr lang="en-US"/>
          </a:p>
        </p:txBody>
      </p:sp>
      <p:sp>
        <p:nvSpPr>
          <p:cNvPr id="16" name="Shape 14"/>
          <p:cNvSpPr/>
          <p:nvPr/>
        </p:nvSpPr>
        <p:spPr>
          <a:xfrm>
            <a:off x="7992566" y="1785541"/>
            <a:ext cx="3386634" cy="2967038"/>
          </a:xfrm>
          <a:custGeom>
            <a:avLst/>
            <a:gdLst/>
            <a:ahLst/>
            <a:cxnLst/>
            <a:rect l="l" t="t" r="r" b="b"/>
            <a:pathLst>
              <a:path w="3386634" h="2967038">
                <a:moveTo>
                  <a:pt x="0" y="127000"/>
                </a:moveTo>
                <a:lnTo>
                  <a:pt x="0" y="127000"/>
                </a:lnTo>
                <a:arcTo wR="127000" hR="127000" stAng="10800000" swAng="5400000"/>
                <a:lnTo>
                  <a:pt x="3259634" y="0"/>
                </a:lnTo>
                <a:arcTo wR="127000" hR="127000" stAng="16200000" swAng="5400000"/>
                <a:lnTo>
                  <a:pt x="3386634" y="127000"/>
                </a:lnTo>
                <a:arcTo wR="127000" hR="63500" stAng="0" swAng="-5400000"/>
                <a:lnTo>
                  <a:pt x="127000" y="63500"/>
                </a:lnTo>
                <a:arcTo wR="127000" hR="63500" stAng="16200000" swAng="-5400000"/>
                <a:close/>
              </a:path>
            </a:pathLst>
          </a:custGeom>
          <a:solidFill>
            <a:srgbClr val="FF6B4A"/>
          </a:solidFill>
          <a:ln/>
        </p:spPr>
        <p:txBody>
          <a:bodyPr/>
          <a:lstStyle/>
          <a:p>
            <a:endParaRPr lang="en-US"/>
          </a:p>
        </p:txBody>
      </p:sp>
      <p:sp>
        <p:nvSpPr>
          <p:cNvPr id="17" name="Text 15"/>
          <p:cNvSpPr/>
          <p:nvPr/>
        </p:nvSpPr>
        <p:spPr>
          <a:xfrm>
            <a:off x="8246566" y="210304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FF6B4A"/>
          </a:solidFill>
          <a:ln/>
        </p:spPr>
        <p:txBody>
          <a:bodyPr wrap="square" lIns="0" tIns="0" rIns="0" bIns="0" rtlCol="0" anchor="ctr">
            <a:normAutofit/>
          </a:bodyPr>
          <a:lstStyle/>
          <a:p>
            <a:pPr marL="0" indent="0" algn="ctr">
              <a:lnSpc>
                <a:spcPts val="2380"/>
              </a:lnSpc>
              <a:buNone/>
            </a:pPr>
            <a:r>
              <a:rPr lang="en-US" sz="1700" b="1" dirty="0">
                <a:solidFill>
                  <a:srgbClr val="0F1B2D"/>
                </a:solidFill>
                <a:latin typeface="Playfair Display" pitchFamily="18" charset="0"/>
                <a:ea typeface="Playfair Display" pitchFamily="18" charset="-122"/>
                <a:cs typeface="Playfair Display" pitchFamily="18" charset="-120"/>
              </a:rPr>
              <a:t>9</a:t>
            </a:r>
            <a:endParaRPr lang="en-US" sz="1700" dirty="0"/>
          </a:p>
        </p:txBody>
      </p:sp>
      <p:sp>
        <p:nvSpPr>
          <p:cNvPr id="18" name="Text 16"/>
          <p:cNvSpPr/>
          <p:nvPr/>
        </p:nvSpPr>
        <p:spPr>
          <a:xfrm>
            <a:off x="8767266" y="2182118"/>
            <a:ext cx="2611934" cy="27364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0F1B2D"/>
                </a:solidFill>
                <a:latin typeface="Playfair Display" pitchFamily="18" charset="0"/>
                <a:ea typeface="Playfair Display" pitchFamily="18" charset="-122"/>
                <a:cs typeface="Playfair Display" pitchFamily="18" charset="-120"/>
              </a:rPr>
              <a:t>Rebalance the portfolio</a:t>
            </a:r>
            <a:endParaRPr lang="en-US" sz="1700" dirty="0"/>
          </a:p>
        </p:txBody>
      </p:sp>
      <p:sp>
        <p:nvSpPr>
          <p:cNvPr id="19" name="Text 17"/>
          <p:cNvSpPr/>
          <p:nvPr/>
        </p:nvSpPr>
        <p:spPr>
          <a:xfrm>
            <a:off x="8246566" y="2623741"/>
            <a:ext cx="2964993" cy="1665883"/>
          </a:xfrm>
          <a:prstGeom prst="rect">
            <a:avLst/>
          </a:prstGeom>
          <a:noFill/>
          <a:ln/>
        </p:spPr>
        <p:txBody>
          <a:bodyPr wrap="square" lIns="0" tIns="0" rIns="0" bIns="0" rtlCol="0" anchor="t">
            <a:normAutofit/>
          </a:bodyPr>
          <a:lstStyle/>
          <a:p>
            <a:pPr marL="0" indent="0" algn="l">
              <a:lnSpc>
                <a:spcPts val="1846"/>
              </a:lnSpc>
              <a:buNone/>
            </a:pPr>
            <a:r>
              <a:rPr lang="en-US" sz="1300" dirty="0">
                <a:solidFill>
                  <a:srgbClr val="0F1B2D"/>
                </a:solidFill>
                <a:latin typeface="Inter" pitchFamily="34" charset="0"/>
                <a:ea typeface="Inter" pitchFamily="34" charset="-122"/>
                <a:cs typeface="Inter" pitchFamily="34" charset="-120"/>
              </a:rPr>
              <a:t>Revenue is evenly split, so no category is dispensable. Review Books for pricing, bundling or cross-sell with Home rather than dropping it, and use the gender difference in order value to tailor offers and merchandising.</a:t>
            </a:r>
            <a:endParaRPr lang="en-US" sz="1300" dirty="0"/>
          </a:p>
        </p:txBody>
      </p:sp>
      <p:sp>
        <p:nvSpPr>
          <p:cNvPr id="20" name="Text 1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Inter" pitchFamily="34" charset="0"/>
                <a:ea typeface="Inter" pitchFamily="34" charset="-122"/>
                <a:cs typeface="Inter" pitchFamily="34" charset="-120"/>
              </a:rPr>
              <a:t>Retail Sales Analytics · REC3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10287000" y="0"/>
            <a:ext cx="2794000" cy="2794000"/>
          </a:xfrm>
          <a:prstGeom prst="roundRect">
            <a:avLst>
              <a:gd name="adj" fmla="val 50000"/>
            </a:avLst>
          </a:prstGeom>
          <a:solidFill>
            <a:srgbClr val="FF6B4A">
              <a:alpha val="20000"/>
            </a:srgbClr>
          </a:solidFill>
          <a:ln/>
        </p:spPr>
        <p:txBody>
          <a:bodyPr/>
          <a:lstStyle/>
          <a:p>
            <a:endParaRPr lang="en-US"/>
          </a:p>
        </p:txBody>
      </p:sp>
      <p:sp>
        <p:nvSpPr>
          <p:cNvPr id="3" name="Text 1"/>
          <p:cNvSpPr/>
          <p:nvPr/>
        </p:nvSpPr>
        <p:spPr>
          <a:xfrm>
            <a:off x="812800" y="7112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50" dirty="0">
                <a:solidFill>
                  <a:srgbClr val="FF6B4A"/>
                </a:solidFill>
                <a:latin typeface="Inter" pitchFamily="34" charset="0"/>
                <a:ea typeface="Inter" pitchFamily="34" charset="-122"/>
                <a:cs typeface="Inter" pitchFamily="34" charset="-120"/>
              </a:rPr>
              <a:t>NEXT 180 DAYS</a:t>
            </a:r>
            <a:endParaRPr lang="en-US" sz="1300" dirty="0"/>
          </a:p>
        </p:txBody>
      </p:sp>
      <p:sp>
        <p:nvSpPr>
          <p:cNvPr id="4" name="Text 2"/>
          <p:cNvSpPr>
            <a:spLocks noGrp="1"/>
          </p:cNvSpPr>
          <p:nvPr>
            <p:ph type="title"/>
          </p:nvPr>
        </p:nvSpPr>
        <p:spPr>
          <a:xfrm>
            <a:off x="812800" y="103118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F7F2EA"/>
                </a:solidFill>
                <a:latin typeface="Playfair Display" pitchFamily="18" charset="0"/>
                <a:ea typeface="Playfair Display" pitchFamily="18" charset="-122"/>
                <a:cs typeface="Playfair Display" pitchFamily="18" charset="-120"/>
              </a:rPr>
              <a:t>Suggested roadmap</a:t>
            </a:r>
            <a:endParaRPr lang="en-US" sz="3400" dirty="0"/>
          </a:p>
        </p:txBody>
      </p:sp>
      <p:sp>
        <p:nvSpPr>
          <p:cNvPr id="5" name="Shape 3"/>
          <p:cNvSpPr/>
          <p:nvPr/>
        </p:nvSpPr>
        <p:spPr>
          <a:xfrm>
            <a:off x="812800" y="1785541"/>
            <a:ext cx="228600" cy="228600"/>
          </a:xfrm>
          <a:prstGeom prst="roundRect">
            <a:avLst>
              <a:gd name="adj" fmla="val 50000"/>
            </a:avLst>
          </a:prstGeom>
          <a:solidFill>
            <a:srgbClr val="FF6B4A"/>
          </a:solidFill>
          <a:ln/>
        </p:spPr>
        <p:txBody>
          <a:bodyPr/>
          <a:lstStyle/>
          <a:p>
            <a:endParaRPr lang="en-US"/>
          </a:p>
        </p:txBody>
      </p:sp>
      <p:sp>
        <p:nvSpPr>
          <p:cNvPr id="6" name="Shape 4"/>
          <p:cNvSpPr/>
          <p:nvPr/>
        </p:nvSpPr>
        <p:spPr>
          <a:xfrm>
            <a:off x="1143000" y="1880791"/>
            <a:ext cx="3056434" cy="38100"/>
          </a:xfrm>
          <a:prstGeom prst="roundRect">
            <a:avLst>
              <a:gd name="adj" fmla="val 50000"/>
            </a:avLst>
          </a:prstGeom>
          <a:solidFill>
            <a:srgbClr val="2A3D5C"/>
          </a:solidFill>
          <a:ln/>
        </p:spPr>
        <p:txBody>
          <a:bodyPr/>
          <a:lstStyle/>
          <a:p>
            <a:endParaRPr lang="en-US"/>
          </a:p>
        </p:txBody>
      </p:sp>
      <p:sp>
        <p:nvSpPr>
          <p:cNvPr id="7" name="Text 5"/>
          <p:cNvSpPr/>
          <p:nvPr/>
        </p:nvSpPr>
        <p:spPr>
          <a:xfrm>
            <a:off x="812800" y="2128441"/>
            <a:ext cx="3488233"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6B4A"/>
                </a:solidFill>
                <a:latin typeface="Playfair Display" pitchFamily="18" charset="0"/>
                <a:ea typeface="Playfair Display" pitchFamily="18" charset="-122"/>
                <a:cs typeface="Playfair Display" pitchFamily="18" charset="-120"/>
              </a:rPr>
              <a:t>Days 0-30</a:t>
            </a:r>
            <a:endParaRPr lang="en-US" sz="2200" dirty="0"/>
          </a:p>
        </p:txBody>
      </p:sp>
      <p:sp>
        <p:nvSpPr>
          <p:cNvPr id="8" name="Text 6"/>
          <p:cNvSpPr/>
          <p:nvPr/>
        </p:nvSpPr>
        <p:spPr>
          <a:xfrm>
            <a:off x="812800" y="2633861"/>
            <a:ext cx="3488233"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2EA"/>
                </a:solidFill>
                <a:latin typeface="Inter" pitchFamily="34" charset="0"/>
                <a:ea typeface="Inter" pitchFamily="34" charset="-122"/>
                <a:cs typeface="Inter" pitchFamily="34" charset="-120"/>
              </a:rPr>
              <a:t>Investigate Clothing churn, define at-risk signals and set baseline KPIs by segment and category.</a:t>
            </a:r>
            <a:endParaRPr lang="en-US" sz="1400" dirty="0"/>
          </a:p>
        </p:txBody>
      </p:sp>
      <p:sp>
        <p:nvSpPr>
          <p:cNvPr id="9" name="Shape 7"/>
          <p:cNvSpPr/>
          <p:nvPr/>
        </p:nvSpPr>
        <p:spPr>
          <a:xfrm>
            <a:off x="812800" y="3494683"/>
            <a:ext cx="3386634" cy="989211"/>
          </a:xfrm>
          <a:prstGeom prst="roundRect">
            <a:avLst>
              <a:gd name="adj" fmla="val 10271"/>
            </a:avLst>
          </a:prstGeom>
          <a:solidFill>
            <a:srgbClr val="1A2A42"/>
          </a:solidFill>
          <a:ln/>
        </p:spPr>
        <p:txBody>
          <a:bodyPr/>
          <a:lstStyle/>
          <a:p>
            <a:endParaRPr lang="en-US"/>
          </a:p>
        </p:txBody>
      </p:sp>
      <p:sp>
        <p:nvSpPr>
          <p:cNvPr id="10" name="Shape 8"/>
          <p:cNvSpPr/>
          <p:nvPr/>
        </p:nvSpPr>
        <p:spPr>
          <a:xfrm>
            <a:off x="812800" y="3494683"/>
            <a:ext cx="3386634" cy="989211"/>
          </a:xfrm>
          <a:custGeom>
            <a:avLst/>
            <a:gdLst/>
            <a:ahLst/>
            <a:cxnLst/>
            <a:rect l="l" t="t" r="r" b="b"/>
            <a:pathLst>
              <a:path w="3386634" h="989211">
                <a:moveTo>
                  <a:pt x="101600" y="989211"/>
                </a:moveTo>
                <a:lnTo>
                  <a:pt x="101600" y="989211"/>
                </a:lnTo>
                <a:arcTo wR="101600" hR="101600" stAng="5400000" swAng="5400000"/>
                <a:lnTo>
                  <a:pt x="0" y="101600"/>
                </a:lnTo>
                <a:arcTo wR="101600" hR="101600" stAng="10800000" swAng="5400000"/>
                <a:lnTo>
                  <a:pt x="101600" y="0"/>
                </a:lnTo>
                <a:arcTo wR="50800" hR="101600" stAng="16200000" swAng="-5400000"/>
                <a:lnTo>
                  <a:pt x="50800" y="887611"/>
                </a:lnTo>
                <a:arcTo wR="50800" hR="101600" stAng="10800000" swAng="-5400000"/>
                <a:close/>
              </a:path>
            </a:pathLst>
          </a:custGeom>
          <a:solidFill>
            <a:srgbClr val="FF6B4A"/>
          </a:solidFill>
          <a:ln/>
        </p:spPr>
        <p:txBody>
          <a:bodyPr/>
          <a:lstStyle/>
          <a:p>
            <a:endParaRPr lang="en-US"/>
          </a:p>
        </p:txBody>
      </p:sp>
      <p:sp>
        <p:nvSpPr>
          <p:cNvPr id="11" name="Text 9"/>
          <p:cNvSpPr/>
          <p:nvPr/>
        </p:nvSpPr>
        <p:spPr>
          <a:xfrm>
            <a:off x="1028700" y="3659783"/>
            <a:ext cx="309580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6B4A"/>
                </a:solidFill>
                <a:latin typeface="Inter" pitchFamily="34" charset="0"/>
                <a:ea typeface="Inter" pitchFamily="34" charset="-122"/>
                <a:cs typeface="Inter" pitchFamily="34" charset="-120"/>
              </a:rPr>
              <a:t>SUCCESS MEASURE</a:t>
            </a:r>
            <a:endParaRPr lang="en-US" sz="1200" dirty="0"/>
          </a:p>
        </p:txBody>
      </p:sp>
      <p:sp>
        <p:nvSpPr>
          <p:cNvPr id="12" name="Text 10"/>
          <p:cNvSpPr/>
          <p:nvPr/>
        </p:nvSpPr>
        <p:spPr>
          <a:xfrm>
            <a:off x="1028700" y="3873103"/>
            <a:ext cx="3095803"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7F2EA"/>
                </a:solidFill>
                <a:latin typeface="Inter" pitchFamily="34" charset="0"/>
                <a:ea typeface="Inter" pitchFamily="34" charset="-122"/>
                <a:cs typeface="Inter" pitchFamily="34" charset="-120"/>
              </a:rPr>
              <a:t>Baseline churn by segment and category</a:t>
            </a:r>
            <a:endParaRPr lang="en-US" sz="1300" dirty="0"/>
          </a:p>
        </p:txBody>
      </p:sp>
      <p:sp>
        <p:nvSpPr>
          <p:cNvPr id="13" name="Shape 11"/>
          <p:cNvSpPr/>
          <p:nvPr/>
        </p:nvSpPr>
        <p:spPr>
          <a:xfrm>
            <a:off x="4402634" y="1785541"/>
            <a:ext cx="228600" cy="228600"/>
          </a:xfrm>
          <a:prstGeom prst="roundRect">
            <a:avLst>
              <a:gd name="adj" fmla="val 50000"/>
            </a:avLst>
          </a:prstGeom>
          <a:solidFill>
            <a:srgbClr val="1FB5A6"/>
          </a:solidFill>
          <a:ln/>
        </p:spPr>
        <p:txBody>
          <a:bodyPr/>
          <a:lstStyle/>
          <a:p>
            <a:endParaRPr lang="en-US"/>
          </a:p>
        </p:txBody>
      </p:sp>
      <p:sp>
        <p:nvSpPr>
          <p:cNvPr id="14" name="Shape 12"/>
          <p:cNvSpPr/>
          <p:nvPr/>
        </p:nvSpPr>
        <p:spPr>
          <a:xfrm>
            <a:off x="4732834" y="1880791"/>
            <a:ext cx="3056533" cy="38100"/>
          </a:xfrm>
          <a:prstGeom prst="roundRect">
            <a:avLst>
              <a:gd name="adj" fmla="val 50000"/>
            </a:avLst>
          </a:prstGeom>
          <a:solidFill>
            <a:srgbClr val="2A3D5C"/>
          </a:solidFill>
          <a:ln/>
        </p:spPr>
        <p:txBody>
          <a:bodyPr/>
          <a:lstStyle/>
          <a:p>
            <a:endParaRPr lang="en-US"/>
          </a:p>
        </p:txBody>
      </p:sp>
      <p:sp>
        <p:nvSpPr>
          <p:cNvPr id="15" name="Text 13"/>
          <p:cNvSpPr/>
          <p:nvPr/>
        </p:nvSpPr>
        <p:spPr>
          <a:xfrm>
            <a:off x="4402634" y="2128441"/>
            <a:ext cx="34883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FB5A6"/>
                </a:solidFill>
                <a:latin typeface="Playfair Display" pitchFamily="18" charset="0"/>
                <a:ea typeface="Playfair Display" pitchFamily="18" charset="-122"/>
                <a:cs typeface="Playfair Display" pitchFamily="18" charset="-120"/>
              </a:rPr>
              <a:t>Days 30-90</a:t>
            </a:r>
            <a:endParaRPr lang="en-US" sz="2200" dirty="0"/>
          </a:p>
        </p:txBody>
      </p:sp>
      <p:sp>
        <p:nvSpPr>
          <p:cNvPr id="16" name="Text 14"/>
          <p:cNvSpPr/>
          <p:nvPr/>
        </p:nvSpPr>
        <p:spPr>
          <a:xfrm>
            <a:off x="4402634" y="2633861"/>
            <a:ext cx="348833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2EA"/>
                </a:solidFill>
                <a:latin typeface="Inter" pitchFamily="34" charset="0"/>
                <a:ea typeface="Inter" pitchFamily="34" charset="-122"/>
                <a:cs typeface="Inter" pitchFamily="34" charset="-120"/>
              </a:rPr>
              <a:t>Launch the 55+ retention program and 18-25 pilot, and prepare the August plan.</a:t>
            </a:r>
            <a:endParaRPr lang="en-US" sz="1400" dirty="0"/>
          </a:p>
        </p:txBody>
      </p:sp>
      <p:sp>
        <p:nvSpPr>
          <p:cNvPr id="17" name="Shape 15"/>
          <p:cNvSpPr/>
          <p:nvPr/>
        </p:nvSpPr>
        <p:spPr>
          <a:xfrm>
            <a:off x="4402634" y="3494683"/>
            <a:ext cx="3386733" cy="989211"/>
          </a:xfrm>
          <a:prstGeom prst="roundRect">
            <a:avLst>
              <a:gd name="adj" fmla="val 10271"/>
            </a:avLst>
          </a:prstGeom>
          <a:solidFill>
            <a:srgbClr val="1A2A42"/>
          </a:solidFill>
          <a:ln/>
        </p:spPr>
        <p:txBody>
          <a:bodyPr/>
          <a:lstStyle/>
          <a:p>
            <a:endParaRPr lang="en-US"/>
          </a:p>
        </p:txBody>
      </p:sp>
      <p:sp>
        <p:nvSpPr>
          <p:cNvPr id="18" name="Shape 16"/>
          <p:cNvSpPr/>
          <p:nvPr/>
        </p:nvSpPr>
        <p:spPr>
          <a:xfrm>
            <a:off x="4402634" y="3494683"/>
            <a:ext cx="3386733" cy="989211"/>
          </a:xfrm>
          <a:custGeom>
            <a:avLst/>
            <a:gdLst/>
            <a:ahLst/>
            <a:cxnLst/>
            <a:rect l="l" t="t" r="r" b="b"/>
            <a:pathLst>
              <a:path w="3386733" h="989211">
                <a:moveTo>
                  <a:pt x="101600" y="989211"/>
                </a:moveTo>
                <a:lnTo>
                  <a:pt x="101600" y="989211"/>
                </a:lnTo>
                <a:arcTo wR="101600" hR="101600" stAng="5400000" swAng="5400000"/>
                <a:lnTo>
                  <a:pt x="0" y="101600"/>
                </a:lnTo>
                <a:arcTo wR="101600" hR="101600" stAng="10800000" swAng="5400000"/>
                <a:lnTo>
                  <a:pt x="101600" y="0"/>
                </a:lnTo>
                <a:arcTo wR="50800" hR="101600" stAng="16200000" swAng="-5400000"/>
                <a:lnTo>
                  <a:pt x="50800" y="887611"/>
                </a:lnTo>
                <a:arcTo wR="50800" hR="101600" stAng="10800000" swAng="-5400000"/>
                <a:close/>
              </a:path>
            </a:pathLst>
          </a:custGeom>
          <a:solidFill>
            <a:srgbClr val="1FB5A6"/>
          </a:solidFill>
          <a:ln/>
        </p:spPr>
        <p:txBody>
          <a:bodyPr/>
          <a:lstStyle/>
          <a:p>
            <a:endParaRPr lang="en-US"/>
          </a:p>
        </p:txBody>
      </p:sp>
      <p:sp>
        <p:nvSpPr>
          <p:cNvPr id="19" name="Text 17"/>
          <p:cNvSpPr/>
          <p:nvPr/>
        </p:nvSpPr>
        <p:spPr>
          <a:xfrm>
            <a:off x="4618534" y="3659783"/>
            <a:ext cx="309590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B5A6"/>
                </a:solidFill>
                <a:latin typeface="Inter" pitchFamily="34" charset="0"/>
                <a:ea typeface="Inter" pitchFamily="34" charset="-122"/>
                <a:cs typeface="Inter" pitchFamily="34" charset="-120"/>
              </a:rPr>
              <a:t>SUCCESS MEASURE</a:t>
            </a:r>
            <a:endParaRPr lang="en-US" sz="1200" dirty="0"/>
          </a:p>
        </p:txBody>
      </p:sp>
      <p:sp>
        <p:nvSpPr>
          <p:cNvPr id="20" name="Text 18"/>
          <p:cNvSpPr/>
          <p:nvPr/>
        </p:nvSpPr>
        <p:spPr>
          <a:xfrm>
            <a:off x="4618534" y="3873103"/>
            <a:ext cx="3095905"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7F2EA"/>
                </a:solidFill>
                <a:latin typeface="Inter" pitchFamily="34" charset="0"/>
                <a:ea typeface="Inter" pitchFamily="34" charset="-122"/>
                <a:cs typeface="Inter" pitchFamily="34" charset="-120"/>
              </a:rPr>
              <a:t>Lower 55+ churn and a higher 18-25 second-purchase rate</a:t>
            </a:r>
            <a:endParaRPr lang="en-US" sz="1300" dirty="0"/>
          </a:p>
        </p:txBody>
      </p:sp>
      <p:sp>
        <p:nvSpPr>
          <p:cNvPr id="21" name="Shape 19"/>
          <p:cNvSpPr/>
          <p:nvPr/>
        </p:nvSpPr>
        <p:spPr>
          <a:xfrm>
            <a:off x="7992566" y="1785541"/>
            <a:ext cx="228600" cy="228600"/>
          </a:xfrm>
          <a:prstGeom prst="roundRect">
            <a:avLst>
              <a:gd name="adj" fmla="val 50000"/>
            </a:avLst>
          </a:prstGeom>
          <a:solidFill>
            <a:srgbClr val="F4B942"/>
          </a:solidFill>
          <a:ln/>
        </p:spPr>
        <p:txBody>
          <a:bodyPr/>
          <a:lstStyle/>
          <a:p>
            <a:endParaRPr lang="en-US"/>
          </a:p>
        </p:txBody>
      </p:sp>
      <p:sp>
        <p:nvSpPr>
          <p:cNvPr id="22" name="Shape 20"/>
          <p:cNvSpPr/>
          <p:nvPr/>
        </p:nvSpPr>
        <p:spPr>
          <a:xfrm>
            <a:off x="8322766" y="1880791"/>
            <a:ext cx="3056434" cy="38100"/>
          </a:xfrm>
          <a:prstGeom prst="roundRect">
            <a:avLst>
              <a:gd name="adj" fmla="val 50000"/>
            </a:avLst>
          </a:prstGeom>
          <a:solidFill>
            <a:srgbClr val="2A3D5C"/>
          </a:solidFill>
          <a:ln/>
        </p:spPr>
        <p:txBody>
          <a:bodyPr/>
          <a:lstStyle/>
          <a:p>
            <a:endParaRPr lang="en-US"/>
          </a:p>
        </p:txBody>
      </p:sp>
      <p:sp>
        <p:nvSpPr>
          <p:cNvPr id="23" name="Text 21"/>
          <p:cNvSpPr/>
          <p:nvPr/>
        </p:nvSpPr>
        <p:spPr>
          <a:xfrm>
            <a:off x="7992566" y="2128441"/>
            <a:ext cx="3488233"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4B942"/>
                </a:solidFill>
                <a:latin typeface="Playfair Display" pitchFamily="18" charset="0"/>
                <a:ea typeface="Playfair Display" pitchFamily="18" charset="-122"/>
                <a:cs typeface="Playfair Display" pitchFamily="18" charset="-120"/>
              </a:rPr>
              <a:t>Days 90-180</a:t>
            </a:r>
            <a:endParaRPr lang="en-US" sz="2200" dirty="0"/>
          </a:p>
        </p:txBody>
      </p:sp>
      <p:sp>
        <p:nvSpPr>
          <p:cNvPr id="24" name="Text 22"/>
          <p:cNvSpPr/>
          <p:nvPr/>
        </p:nvSpPr>
        <p:spPr>
          <a:xfrm>
            <a:off x="7992566" y="2633861"/>
            <a:ext cx="3488233"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2EA"/>
                </a:solidFill>
                <a:latin typeface="Inter" pitchFamily="34" charset="0"/>
                <a:ea typeface="Inter" pitchFamily="34" charset="-122"/>
                <a:cs typeface="Inter" pitchFamily="34" charset="-120"/>
              </a:rPr>
              <a:t>Deploy the churn model, pilot loyalty tiers and run the August campaign.</a:t>
            </a:r>
            <a:endParaRPr lang="en-US" sz="1400" dirty="0"/>
          </a:p>
        </p:txBody>
      </p:sp>
      <p:sp>
        <p:nvSpPr>
          <p:cNvPr id="25" name="Shape 23"/>
          <p:cNvSpPr/>
          <p:nvPr/>
        </p:nvSpPr>
        <p:spPr>
          <a:xfrm>
            <a:off x="8043365" y="3545090"/>
            <a:ext cx="3386634" cy="989211"/>
          </a:xfrm>
          <a:prstGeom prst="roundRect">
            <a:avLst>
              <a:gd name="adj" fmla="val 10271"/>
            </a:avLst>
          </a:prstGeom>
          <a:solidFill>
            <a:srgbClr val="1A2A42"/>
          </a:solidFill>
          <a:ln/>
        </p:spPr>
        <p:txBody>
          <a:bodyPr/>
          <a:lstStyle/>
          <a:p>
            <a:endParaRPr lang="en-US"/>
          </a:p>
        </p:txBody>
      </p:sp>
      <p:sp>
        <p:nvSpPr>
          <p:cNvPr id="26" name="Shape 24"/>
          <p:cNvSpPr/>
          <p:nvPr/>
        </p:nvSpPr>
        <p:spPr>
          <a:xfrm>
            <a:off x="8012405" y="3561358"/>
            <a:ext cx="3386634" cy="989211"/>
          </a:xfrm>
          <a:custGeom>
            <a:avLst/>
            <a:gdLst/>
            <a:ahLst/>
            <a:cxnLst/>
            <a:rect l="l" t="t" r="r" b="b"/>
            <a:pathLst>
              <a:path w="3386634" h="989211">
                <a:moveTo>
                  <a:pt x="101600" y="989211"/>
                </a:moveTo>
                <a:lnTo>
                  <a:pt x="101600" y="989211"/>
                </a:lnTo>
                <a:arcTo wR="101600" hR="101600" stAng="5400000" swAng="5400000"/>
                <a:lnTo>
                  <a:pt x="0" y="101600"/>
                </a:lnTo>
                <a:arcTo wR="101600" hR="101600" stAng="10800000" swAng="5400000"/>
                <a:lnTo>
                  <a:pt x="101600" y="0"/>
                </a:lnTo>
                <a:arcTo wR="50800" hR="101600" stAng="16200000" swAng="-5400000"/>
                <a:lnTo>
                  <a:pt x="50800" y="887611"/>
                </a:lnTo>
                <a:arcTo wR="50800" hR="101600" stAng="10800000" swAng="-5400000"/>
                <a:close/>
              </a:path>
            </a:pathLst>
          </a:custGeom>
          <a:solidFill>
            <a:srgbClr val="F4B942"/>
          </a:solidFill>
          <a:ln/>
        </p:spPr>
        <p:txBody>
          <a:bodyPr/>
          <a:lstStyle/>
          <a:p>
            <a:endParaRPr lang="en-US" dirty="0"/>
          </a:p>
        </p:txBody>
      </p:sp>
      <p:sp>
        <p:nvSpPr>
          <p:cNvPr id="27" name="Text 25"/>
          <p:cNvSpPr/>
          <p:nvPr/>
        </p:nvSpPr>
        <p:spPr>
          <a:xfrm>
            <a:off x="8245931" y="3602038"/>
            <a:ext cx="309580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4B942"/>
                </a:solidFill>
                <a:latin typeface="Inter" pitchFamily="34" charset="0"/>
                <a:ea typeface="Inter" pitchFamily="34" charset="-122"/>
                <a:cs typeface="Inter" pitchFamily="34" charset="-120"/>
              </a:rPr>
              <a:t>SUCCESS MEASURE</a:t>
            </a:r>
            <a:endParaRPr lang="en-US" sz="1200" dirty="0"/>
          </a:p>
        </p:txBody>
      </p:sp>
      <p:sp>
        <p:nvSpPr>
          <p:cNvPr id="28" name="Text 26"/>
          <p:cNvSpPr/>
          <p:nvPr/>
        </p:nvSpPr>
        <p:spPr>
          <a:xfrm>
            <a:off x="8208466" y="3833288"/>
            <a:ext cx="3095803" cy="471091"/>
          </a:xfrm>
          <a:prstGeom prst="rect">
            <a:avLst/>
          </a:prstGeom>
          <a:noFill/>
          <a:ln/>
        </p:spPr>
        <p:txBody>
          <a:bodyPr wrap="square" lIns="0" tIns="0" rIns="0" bIns="0" rtlCol="0" anchor="t">
            <a:normAutofit/>
          </a:bodyPr>
          <a:lstStyle/>
          <a:p>
            <a:pPr marL="0" indent="0">
              <a:lnSpc>
                <a:spcPts val="1755"/>
              </a:lnSpc>
              <a:buNone/>
            </a:pPr>
            <a:r>
              <a:rPr lang="en-US" sz="1300" dirty="0">
                <a:solidFill>
                  <a:srgbClr val="F7F2EA"/>
                </a:solidFill>
                <a:latin typeface="Inter" pitchFamily="34" charset="0"/>
                <a:ea typeface="Inter" pitchFamily="34" charset="-122"/>
                <a:cs typeface="Inter" pitchFamily="34" charset="-120"/>
              </a:rPr>
              <a:t>Retention uplift vs control and August revenue vs 2020</a:t>
            </a:r>
            <a:endParaRPr lang="en-US" sz="1300" dirty="0"/>
          </a:p>
        </p:txBody>
      </p:sp>
      <p:sp>
        <p:nvSpPr>
          <p:cNvPr id="29" name="Text 27"/>
          <p:cNvSpPr/>
          <p:nvPr/>
        </p:nvSpPr>
        <p:spPr>
          <a:xfrm>
            <a:off x="812800" y="4763294"/>
            <a:ext cx="108833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C9D1DC"/>
                </a:solidFill>
                <a:latin typeface="Inter" pitchFamily="34" charset="0"/>
                <a:ea typeface="Inter" pitchFamily="34" charset="-122"/>
                <a:cs typeface="Inter" pitchFamily="34" charset="-120"/>
              </a:rPr>
              <a:t>Validate each initiative with a control group so the SQL findings become proven, repeatable gains.</a:t>
            </a:r>
            <a:endParaRPr lang="en-US" sz="1500" dirty="0"/>
          </a:p>
        </p:txBody>
      </p:sp>
      <p:sp>
        <p:nvSpPr>
          <p:cNvPr id="30" name="Text 2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Inter" pitchFamily="34" charset="0"/>
                <a:ea typeface="Inter" pitchFamily="34" charset="-122"/>
                <a:cs typeface="Inter" pitchFamily="34" charset="-120"/>
              </a:rPr>
              <a:t>Retail Sales Analytics · ROADMAP</a:t>
            </a:r>
            <a:endParaRPr lang="en-US" sz="1200" dirty="0"/>
          </a:p>
        </p:txBody>
      </p:sp>
    </p:spTree>
  </p:cSld>
  <p:clrMapOvr>
    <a:masterClrMapping/>
  </p:clrMapOvr>
</p:sld>
</file>

<file path=ppt/theme/theme1.xml><?xml version="1.0" encoding="utf-8"?>
<a:theme xmlns:a="http://schemas.openxmlformats.org/drawingml/2006/main" name="Retail Analytics: Findings &amp; Recommendations">
  <a:themeElements>
    <a:clrScheme name="Retail Analytics: Findings &amp; Recommendations">
      <a:dk1>
        <a:srgbClr val="0F1B2D"/>
      </a:dk1>
      <a:lt1>
        <a:srgbClr val="F7F2EA"/>
      </a:lt1>
      <a:dk2>
        <a:srgbClr val="263140"/>
      </a:dk2>
      <a:lt2>
        <a:srgbClr val="BDBCBB"/>
      </a:lt2>
      <a:accent1>
        <a:srgbClr val="FF6B4A"/>
      </a:accent1>
      <a:accent2>
        <a:srgbClr val="F4B942"/>
      </a:accent2>
      <a:accent3>
        <a:srgbClr val="1FB5A6"/>
      </a:accent3>
      <a:accent4>
        <a:srgbClr val="2A3D5C"/>
      </a:accent4>
      <a:accent5>
        <a:srgbClr val="8A919C"/>
      </a:accent5>
      <a:accent6>
        <a:srgbClr val="C9D1DC"/>
      </a:accent6>
      <a:hlink>
        <a:srgbClr val="0563C1"/>
      </a:hlink>
      <a:folHlink>
        <a:srgbClr val="954F72"/>
      </a:folHlink>
    </a:clrScheme>
    <a:fontScheme name="Retail Analytics: Findings &amp; Recommendations">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814</Words>
  <Application>Microsoft Office PowerPoint</Application>
  <PresentationFormat>Widescreen</PresentationFormat>
  <Paragraphs>108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Inter</vt:lpstr>
      <vt:lpstr>Playfair Display</vt:lpstr>
      <vt:lpstr>Retail Analytics: Findings &amp; Recommendations</vt:lpstr>
      <vt:lpstr>Retail Sales Analytics</vt:lpstr>
      <vt:lpstr>Executive summary</vt:lpstr>
      <vt:lpstr>Customer analysis</vt:lpstr>
      <vt:lpstr>Product analysis</vt:lpstr>
      <vt:lpstr>Churn analysis</vt:lpstr>
      <vt:lpstr>Protect the revenue base</vt:lpstr>
      <vt:lpstr>Grow where momentum exists</vt:lpstr>
      <vt:lpstr>Build durable systems</vt:lpstr>
      <vt:lpstr>Suggested roadmap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Analytics: Findings &amp; Recommendations</dc:title>
  <dc:subject/>
  <dc:creator/>
  <cp:lastModifiedBy>Aram Samb</cp:lastModifiedBy>
  <cp:revision>1</cp:revision>
  <dcterms:created xsi:type="dcterms:W3CDTF">2026-10-20T13:22:38Z</dcterms:created>
  <dcterms:modified xsi:type="dcterms:W3CDTF">2026-10-20T13:43:21Z</dcterms:modified>
</cp:coreProperties>
</file>